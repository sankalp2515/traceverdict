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c8b3083a588484b" /><Relationship Type="http://schemas.openxmlformats.org/officeDocument/2006/relationships/extended-properties" Target="/docProps/app.xml" Id="R6b0338e0c0214863" /><Relationship Type="http://schemas.openxmlformats.org/officeDocument/2006/relationships/officeDocument" Target="/ppt/presentation.xml" Id="R9ca6fb8763094d0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f44a9fcb23e4242"/>
  </p:sldMasterIdLst>
  <p:notesMasterIdLst>
    <p:notesMasterId xmlns:r="http://schemas.openxmlformats.org/officeDocument/2006/relationships" r:id="R91e7d14fa5f0433d"/>
  </p:notesMasterIdLst>
  <p:sldIdLst>
    <p:sldId xmlns:r="http://schemas.openxmlformats.org/officeDocument/2006/relationships" id="256" r:id="R32cb123387c5415c"/>
    <p:sldId xmlns:r="http://schemas.openxmlformats.org/officeDocument/2006/relationships" id="257" r:id="R94d17f3b1b5241a8"/>
    <p:sldId xmlns:r="http://schemas.openxmlformats.org/officeDocument/2006/relationships" id="258" r:id="R70f21cf78e7d44f3"/>
    <p:sldId xmlns:r="http://schemas.openxmlformats.org/officeDocument/2006/relationships" id="259" r:id="R6169961c8e0d4986"/>
    <p:sldId xmlns:r="http://schemas.openxmlformats.org/officeDocument/2006/relationships" id="260" r:id="R97411b2227ab4829"/>
    <p:sldId xmlns:r="http://schemas.openxmlformats.org/officeDocument/2006/relationships" id="261" r:id="Rbc7fb068f40242a7"/>
    <p:sldId xmlns:r="http://schemas.openxmlformats.org/officeDocument/2006/relationships" id="262" r:id="R7154b4e4640d49b3"/>
    <p:sldId xmlns:r="http://schemas.openxmlformats.org/officeDocument/2006/relationships" id="263" r:id="Rc1687a10bc5e415f"/>
    <p:sldId xmlns:r="http://schemas.openxmlformats.org/officeDocument/2006/relationships" id="264" r:id="R9c37a6d702b7448c"/>
    <p:sldId xmlns:r="http://schemas.openxmlformats.org/officeDocument/2006/relationships" id="265" r:id="R14afa3aace2c47fa"/>
    <p:sldId xmlns:r="http://schemas.openxmlformats.org/officeDocument/2006/relationships" id="266" r:id="R9c421ef36d8c4df1"/>
    <p:sldId xmlns:r="http://schemas.openxmlformats.org/officeDocument/2006/relationships" id="267" r:id="R21ccb3969dbd4d0c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e6b8e1f8c5a4360" /><Relationship Type="http://schemas.openxmlformats.org/officeDocument/2006/relationships/slideMaster" Target="/ppt/slideMasters/slideMaster1.xml" Id="R4f44a9fcb23e4242" /><Relationship Type="http://schemas.openxmlformats.org/officeDocument/2006/relationships/notesMaster" Target="/ppt/notesMasters/notesMaster1.xml" Id="R91e7d14fa5f0433d" /><Relationship Type="http://schemas.openxmlformats.org/officeDocument/2006/relationships/presProps" Target="/ppt/presProps.xml" Id="Rdab043649fd74676" /><Relationship Type="http://schemas.openxmlformats.org/officeDocument/2006/relationships/tableStyles" Target="/ppt/tableStyles.xml" Id="Rf916c19253c74134" /><Relationship Type="http://schemas.openxmlformats.org/officeDocument/2006/relationships/slide" Target="/ppt/slides/slide1.xml" Id="R32cb123387c5415c" /><Relationship Type="http://schemas.openxmlformats.org/officeDocument/2006/relationships/slide" Target="/ppt/slides/slide2.xml" Id="R94d17f3b1b5241a8" /><Relationship Type="http://schemas.openxmlformats.org/officeDocument/2006/relationships/slide" Target="/ppt/slides/slide3.xml" Id="R70f21cf78e7d44f3" /><Relationship Type="http://schemas.openxmlformats.org/officeDocument/2006/relationships/slide" Target="/ppt/slides/slide4.xml" Id="R6169961c8e0d4986" /><Relationship Type="http://schemas.openxmlformats.org/officeDocument/2006/relationships/slide" Target="/ppt/slides/slide5.xml" Id="R97411b2227ab4829" /><Relationship Type="http://schemas.openxmlformats.org/officeDocument/2006/relationships/slide" Target="/ppt/slides/slide6.xml" Id="Rbc7fb068f40242a7" /><Relationship Type="http://schemas.openxmlformats.org/officeDocument/2006/relationships/slide" Target="/ppt/slides/slide7.xml" Id="R7154b4e4640d49b3" /><Relationship Type="http://schemas.openxmlformats.org/officeDocument/2006/relationships/slide" Target="/ppt/slides/slide8.xml" Id="Rc1687a10bc5e415f" /><Relationship Type="http://schemas.openxmlformats.org/officeDocument/2006/relationships/slide" Target="/ppt/slides/slide9.xml" Id="R9c37a6d702b7448c" /><Relationship Type="http://schemas.openxmlformats.org/officeDocument/2006/relationships/slide" Target="/ppt/slides/slide10.xml" Id="R14afa3aace2c47fa" /><Relationship Type="http://schemas.openxmlformats.org/officeDocument/2006/relationships/slide" Target="/ppt/slides/slide11.xml" Id="R9c421ef36d8c4df1" /><Relationship Type="http://schemas.openxmlformats.org/officeDocument/2006/relationships/slide" Target="/ppt/slides/slide12.xml" Id="R21ccb3969dbd4d0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b0b236f0f56408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e88189ade304d70" /><Relationship Type="http://schemas.openxmlformats.org/officeDocument/2006/relationships/notesMaster" Target="/ppt/notesMasters/notesMaster1.xml" Id="R3ef79f7813024d5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6740009d518478d" /><Relationship Type="http://schemas.openxmlformats.org/officeDocument/2006/relationships/notesMaster" Target="/ppt/notesMasters/notesMaster1.xml" Id="R82648b0d5ffd41b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426dbda03034294" /><Relationship Type="http://schemas.openxmlformats.org/officeDocument/2006/relationships/notesMaster" Target="/ppt/notesMasters/notesMaster1.xml" Id="R51e40bd0f29543c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abbcaef1df946e4" /><Relationship Type="http://schemas.openxmlformats.org/officeDocument/2006/relationships/notesMaster" Target="/ppt/notesMasters/notesMaster1.xml" Id="R44314bedb66b4cd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e43282605914a2e" /><Relationship Type="http://schemas.openxmlformats.org/officeDocument/2006/relationships/notesMaster" Target="/ppt/notesMasters/notesMaster1.xml" Id="Ra241a80a28f04f8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ca92d1394b74203" /><Relationship Type="http://schemas.openxmlformats.org/officeDocument/2006/relationships/notesMaster" Target="/ppt/notesMasters/notesMaster1.xml" Id="R1a9bdf6d19f5443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d5888b64ec14ec3" /><Relationship Type="http://schemas.openxmlformats.org/officeDocument/2006/relationships/notesMaster" Target="/ppt/notesMasters/notesMaster1.xml" Id="R1b9d801bb111448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b18b7f89d30444e" /><Relationship Type="http://schemas.openxmlformats.org/officeDocument/2006/relationships/notesMaster" Target="/ppt/notesMasters/notesMaster1.xml" Id="R3c4398aedcb548a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463ee6a4e994c69" /><Relationship Type="http://schemas.openxmlformats.org/officeDocument/2006/relationships/notesMaster" Target="/ppt/notesMasters/notesMaster1.xml" Id="R08c26976d6cc492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405f0c1ea60419f" /><Relationship Type="http://schemas.openxmlformats.org/officeDocument/2006/relationships/notesMaster" Target="/ppt/notesMasters/notesMaster1.xml" Id="R88fcd7b80fc74a6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fc7fa6ca0af4fc2" /><Relationship Type="http://schemas.openxmlformats.org/officeDocument/2006/relationships/notesMaster" Target="/ppt/notesMasters/notesMaster1.xml" Id="R6ca222f3407f4d8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60543fb1f0a4414" /><Relationship Type="http://schemas.openxmlformats.org/officeDocument/2006/relationships/notesMaster" Target="/ppt/notesMasters/notesMaster1.xml" Id="R02183b0f463d486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TraceVerdict repository: https://github.com/sankalp2515/TraceVerdict. Styling and narrative adapted from the user-supplied IntentSeal HTML pitch deck (12 slides, 1920×1080, navy/cream). Arial is the reference CSS fallback; this is an editable adaptation, not an import of HTML layout.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TraceVerdict repository: https://github.com/sankalp2515/TraceVerdict. Styling and narrative adapted from the user-supplied IntentSeal HTML pitch deck (12 slides, 1920×1080, navy/cream). Arial is the reference CSS fallback; this is an editable adaptation, not an import of HTML layout.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TraceVerdict repository: https://github.com/sankalp2515/TraceVerdict. Styling and narrative adapted from the user-supplied IntentSeal HTML pitch deck (12 slides, 1920×1080, navy/cream). Arial is the reference CSS fallback; this is an editable adaptation, not an import of HTML layout.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TraceVerdict repository: https://github.com/sankalp2515/TraceVerdict. Styling and narrative adapted from the user-supplied IntentSeal HTML pitch deck (12 slides, 1920×1080, navy/cream). Arial is the reference CSS fallback; this is an editable adaptation, not an import of HTML layout.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TraceVerdict repository: https://github.com/sankalp2515/TraceVerdict. Styling and narrative adapted from the user-supplied IntentSeal HTML pitch deck (12 slides, 1920×1080, navy/cream). Arial is the reference CSS fallback; this is an editable adaptation, not an import of HTML layout. Source: examples/traceverdict/nemotron-evaluation.json and docs/NVIDIA_NEMOTRON_EVIDENCE.md. p50 678.107 versus 2150.1795 ms. Lightning 3 utility failures, Ultra 0. Development comparison, not an untouched benchmark. Model resistance does not establish controller enforcement. Actual replay response IDs identify nvidia/nemotron-3-ultra-550b-a55b.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TraceVerdict repository: https://github.com/sankalp2515/TraceVerdict. Styling and narrative adapted from the user-supplied IntentSeal HTML pitch deck (12 slides, 1920×1080, navy/cream). Arial is the reference CSS fallback; this is an editable adaptation, not an import of HTML layout.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TraceVerdict repository: https://github.com/sankalp2515/TraceVerdict. Styling and narrative adapted from the user-supplied IntentSeal HTML pitch deck (12 slides, 1920×1080, navy/cream). Arial is the reference CSS fallback; this is an editable adaptation, not an import of HTML layout. Sources: examples/traceverdict/live/invoice-forward-ultra/{case,report,summary}.json; examples/traceverdict/live/imported-capture/{case,report}.json. Synthetic original captures with actual local receipts and live sponsor calls. Single trials per replay task; fixed corpus; earlier failed/incomplete cases retained. No generalized safety guarantee.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TraceVerdict repository: https://github.com/sankalp2515/TraceVerdict. Styling and narrative adapted from the user-supplied IntentSeal HTML pitch deck (12 slides, 1920×1080, navy/cream). Arial is the reference CSS fallback; this is an editable adaptation, not an import of HTML layout.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TraceVerdict repository: https://github.com/sankalp2515/TraceVerdict. Styling and narrative adapted from the user-supplied IntentSeal HTML pitch deck (12 slides, 1920×1080, navy/cream). Arial is the reference CSS fallback; this is an editable adaptation, not an import of HTML layout. Sources: GitHub Actions on implementation e2acb50; examples/traceverdict/zetaris/native-usl.json; docs/METERLESS_WORLD_MODEL.md. Fresh intake browser walkthrough remains pending because browser automation is disabled in Work settings.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TraceVerdict repository: https://github.com/sankalp2515/TraceVerdict. Styling and narrative adapted from the user-supplied IntentSeal HTML pitch deck (12 slides, 1920×1080, navy/cream). Arial is the reference CSS fallback; this is an editable adaptation, not an import of HTML layout.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TraceVerdict repository: https://github.com/sankalp2515/TraceVerdict. Styling and narrative adapted from the user-supplied IntentSeal HTML pitch deck (12 slides, 1920×1080, navy/cream). Arial is the reference CSS fallback; this is an editable adaptation, not an import of HTML layout.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TraceVerdict repository: https://github.com/sankalp2515/TraceVerdict. Styling and narrative adapted from the user-supplied IntentSeal HTML pitch deck (12 slides, 1920×1080, navy/cream). Arial is the reference CSS fallback; this is an editable adaptation, not an import of HTML layout.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6e53c46467413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81ebd7aa794ad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732d6cd54046a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73dd64bd29419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7f5cb52e1c4ab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b29c28641c4cf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1D7448C-D5D5-436A-AD91-9BBFEEEF90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3886200"/>
            <a:ext cx="146304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3372514-50CD-44CA-828B-ED6FA65D268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43200" y="5657850"/>
            <a:ext cx="12801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FE36249-4C8C-4F2E-8AF2-CAA357F30C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4286250"/>
            <a:ext cx="1463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FB738BB-3DAA-4852-928D-984147C1F7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1672C38-296B-4DDF-8C55-764B532D01F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162306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EF4F440-E8BC-4DB3-B675-C00C931E1A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17B2E69-A8ED-4B08-A0C8-F7D5DBA5076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0B5955E-F150-45BE-A0AD-77A90DB606A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7155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51F8255-F918-48F4-8BC1-783CB22222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F6BDA62-566C-4231-910F-761D04FBC64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312ca941d464730" /><Relationship Type="http://schemas.openxmlformats.org/officeDocument/2006/relationships/slideLayout" Target="/ppt/slideLayouts/slideLayout1.xml" Id="R0b10cfd71bef4cfe" /><Relationship Type="http://schemas.openxmlformats.org/officeDocument/2006/relationships/slideLayout" Target="/ppt/slideLayouts/slideLayout2.xml" Id="R57c9e10d48fc4824" /><Relationship Type="http://schemas.openxmlformats.org/officeDocument/2006/relationships/slideLayout" Target="/ppt/slideLayouts/slideLayout3.xml" Id="R201574e89e914f28" /><Relationship Type="http://schemas.openxmlformats.org/officeDocument/2006/relationships/slideLayout" Target="/ppt/slideLayouts/slideLayout4.xml" Id="R30955f5712ec4674" /><Relationship Type="http://schemas.openxmlformats.org/officeDocument/2006/relationships/slideLayout" Target="/ppt/slideLayouts/slideLayout5.xml" Id="Rc4ff5a93f78f404d" /><Relationship Type="http://schemas.openxmlformats.org/officeDocument/2006/relationships/slideLayout" Target="/ppt/slideLayouts/slideLayout6.xml" Id="R1c78711823cc445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b10cfd71bef4cfe"/>
    <p:sldLayoutId xmlns:r="http://schemas.openxmlformats.org/officeDocument/2006/relationships" id="2147483650" r:id="R57c9e10d48fc4824"/>
    <p:sldLayoutId xmlns:r="http://schemas.openxmlformats.org/officeDocument/2006/relationships" id="2147483651" r:id="R201574e89e914f28"/>
    <p:sldLayoutId xmlns:r="http://schemas.openxmlformats.org/officeDocument/2006/relationships" id="2147483652" r:id="R30955f5712ec4674"/>
    <p:sldLayoutId xmlns:r="http://schemas.openxmlformats.org/officeDocument/2006/relationships" id="2147483653" r:id="Rc4ff5a93f78f404d"/>
    <p:sldLayoutId xmlns:r="http://schemas.openxmlformats.org/officeDocument/2006/relationships" id="2147483654" r:id="R1c78711823cc445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06dbbadd3546e2" /><Relationship Type="http://schemas.openxmlformats.org/officeDocument/2006/relationships/notesSlide" Target="/ppt/notesSlides/notesSlide1.xml" Id="R451c7849bcd047d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5fa9b0ac3c4a8d" /><Relationship Type="http://schemas.openxmlformats.org/officeDocument/2006/relationships/notesSlide" Target="/ppt/notesSlides/notesSlide2.xml" Id="Rf54abe478e2e43d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95e15e0afa438f" /><Relationship Type="http://schemas.openxmlformats.org/officeDocument/2006/relationships/notesSlide" Target="/ppt/notesSlides/notesSlide3.xml" Id="Rc5788c6f4ed94ee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4bc08e730444e8" /><Relationship Type="http://schemas.openxmlformats.org/officeDocument/2006/relationships/notesSlide" Target="/ppt/notesSlides/notesSlide4.xml" Id="R968784b8cbc2422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3eddac98cb4300" /><Relationship Type="http://schemas.openxmlformats.org/officeDocument/2006/relationships/notesSlide" Target="/ppt/notesSlides/notesSlide5.xml" Id="R2b73d5855e26469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90573792204f39" /><Relationship Type="http://schemas.openxmlformats.org/officeDocument/2006/relationships/image" Target="/ppt/media/image.png" Id="R7994a70b230d407c" /><Relationship Type="http://schemas.openxmlformats.org/officeDocument/2006/relationships/notesSlide" Target="/ppt/notesSlides/notesSlide6.xml" Id="R04ac5b80e941446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470a2d143144dc" /><Relationship Type="http://schemas.openxmlformats.org/officeDocument/2006/relationships/notesSlide" Target="/ppt/notesSlides/notesSlide7.xml" Id="R588767db80f5428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ffbdfe266446e6" /><Relationship Type="http://schemas.openxmlformats.org/officeDocument/2006/relationships/notesSlide" Target="/ppt/notesSlides/notesSlide8.xml" Id="Reb318b35967d4e3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213636b59444f4" /><Relationship Type="http://schemas.openxmlformats.org/officeDocument/2006/relationships/notesSlide" Target="/ppt/notesSlides/notesSlide9.xml" Id="Rb8c6f755ccc8489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2c1e8e3dd243fe" /><Relationship Type="http://schemas.openxmlformats.org/officeDocument/2006/relationships/notesSlide" Target="/ppt/notesSlides/notesSlide10.xml" Id="R09a5f3f5da2e4ee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b9edb300134062" /><Relationship Type="http://schemas.openxmlformats.org/officeDocument/2006/relationships/notesSlide" Target="/ppt/notesSlides/notesSlide11.xml" Id="R96422a3cdeea4a6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aeef39082f491b" /><Relationship Type="http://schemas.openxmlformats.org/officeDocument/2006/relationships/notesSlide" Target="/ppt/notesSlides/notesSlide12.xml" Id="R929e0c067e1b412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33FE8D-CA8E-49C9-949C-350566B36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3400"/>
            <a:ext cx="1638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F3A5F"/>
                </a:solidFill>
                <a:latin typeface="Arial"/>
                <a:ea typeface="Arial"/>
                <a:cs typeface="Arial"/>
              </a:rPr>
              <a:t>01 · TRACEVERDICT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1F3BEC-3F68-4282-806C-3CAB4BFEB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285875"/>
            <a:ext cx="16383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defPPr>
            <a:lvl1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1pPr>
            <a:lvl2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2pPr>
            <a:lvl3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3pPr>
            <a:lvl4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4pPr>
            <a:lvl5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5pPr>
            <a:lvl6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6pPr>
            <a:lvl7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7pPr>
            <a:lvl8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8pPr>
            <a:lvl9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3213C"/>
                </a:solidFill>
                <a:latin typeface="Arial"/>
                <a:ea typeface="Arial"/>
                <a:cs typeface="Arial"/>
              </a:rPr>
              <a:t>Explain an agent incident.</a:t>
            </a:r>
          </a:p>
          <a:p xmlns:a="http://schemas.openxmlformats.org/drawingml/2006/main">
            <a: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3213C"/>
                </a:solidFill>
                <a:latin typeface="Arial"/>
                <a:ea typeface="Arial"/>
                <a:cs typeface="Arial"/>
              </a:rPr>
              <a:t>Test the repair before review.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9E5F98-5395-4F78-907D-BCB1196F0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9620250"/>
            <a:ext cx="1504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46174"/>
                </a:solidFill>
                <a:latin typeface="Arial"/>
                <a:ea typeface="Arial"/>
                <a:cs typeface="Arial"/>
              </a:rPr>
              <a:t>TraceVerdict · Helios · Open Agent Hackathon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8287CE-2201-4A6F-BE28-2C4885477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960120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F3A5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B96045-F55B-4AE6-BFC8-3FC78A23D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91000"/>
            <a:ext cx="11239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defPPr>
            <a:lvl1pPr>
              <a:defRPr sz="36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1pPr>
            <a:lvl2pPr>
              <a:defRPr sz="36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2pPr>
            <a:lvl3pPr>
              <a:defRPr sz="36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3pPr>
            <a:lvl4pPr>
              <a:defRPr sz="36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4pPr>
            <a:lvl5pPr>
              <a:defRPr sz="36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5pPr>
            <a:lvl6pPr>
              <a:defRPr sz="36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6pPr>
            <a:lvl7pPr>
              <a:defRPr sz="36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7pPr>
            <a:lvl8pPr>
              <a:defRPr sz="36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8pPr>
            <a:lvl9pPr>
              <a:defRPr sz="36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F3A5F"/>
                </a:solidFill>
                <a:latin typeface="Arial"/>
                <a:ea typeface="Arial"/>
                <a:cs typeface="Arial"/>
              </a:rPr>
              <a:t>A source-linked investigation agent that tests whether a security repair preserves legitimate 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888D9F-16F1-4DBF-8F13-EC358453A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91375"/>
            <a:ext cx="16002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46174"/>
                </a:solidFill>
                <a:latin typeface="Arial"/>
                <a:ea typeface="Arial"/>
                <a:cs typeface="Arial"/>
              </a:rPr>
              <a:t>Zetaris · Meterless World Model Engine</a:t>
            </a:r>
          </a:p>
          <a:p xmlns:a="http://schemas.openxmlformats.org/drawingml/2006/main">
            <a:pPr>
              <a:defRPr sz="2550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46174"/>
                </a:solidFill>
                <a:latin typeface="Arial"/>
                <a:ea typeface="Arial"/>
                <a:cs typeface="Arial"/>
              </a:rPr>
              <a:t>NVIDIA Nemotron through Nightshift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BBA625-42F6-4DC0-8059-4FF688B76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524875"/>
            <a:ext cx="15621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46174"/>
                </a:solidFill>
                <a:latin typeface="Arial"/>
                <a:ea typeface="Arial"/>
                <a:cs typeface="Arial"/>
              </a:rPr>
              <a:t>Sankalp Wanjari · Helios</a:t>
            </a:r>
          </a:p>
          <a:p xmlns:a="http://schemas.openxmlformats.org/drawingml/2006/main">
            <a:pPr>
              <a:defRPr sz="2100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46174"/>
                </a:solidFill>
                <a:latin typeface="Arial"/>
                <a:ea typeface="Arial"/>
                <a:cs typeface="Arial"/>
              </a:rPr>
              <a:t>Track 2 selection; eligibility confirmation pending</a:t>
            </a:r>
          </a:p>
        </p:txBody>
      </p:sp>
    </p:spTree>
    <p:extLst>
      <p:ext uri="{BB962C8B-B14F-4D97-AF65-F5344CB8AC3E}">
        <p14:creationId xmlns:p14="http://schemas.microsoft.com/office/powerpoint/2010/main" val="1520345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8D2876-D3E1-4588-AB83-EC907FDDA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3400"/>
            <a:ext cx="1638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F3A5F"/>
                </a:solidFill>
                <a:latin typeface="Arial"/>
                <a:ea typeface="Arial"/>
                <a:cs typeface="Arial"/>
              </a:rPr>
              <a:t>02 ·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0D1012-7337-49E8-941F-48C749BAB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285875"/>
            <a:ext cx="16383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defPPr>
            <a:lvl1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1pPr>
            <a:lvl2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2pPr>
            <a:lvl3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3pPr>
            <a:lvl4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4pPr>
            <a:lvl5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5pPr>
            <a:lvl6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6pPr>
            <a:lvl7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7pPr>
            <a:lvl8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8pPr>
            <a:lvl9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3213C"/>
                </a:solidFill>
                <a:latin typeface="Arial"/>
                <a:ea typeface="Arial"/>
                <a:cs typeface="Arial"/>
              </a:rPr>
              <a:t>The incident is clear.</a:t>
            </a:r>
          </a:p>
          <a:p xmlns:a="http://schemas.openxmlformats.org/drawingml/2006/main">
            <a: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3213C"/>
                </a:solidFill>
                <a:latin typeface="Arial"/>
                <a:ea typeface="Arial"/>
                <a:cs typeface="Arial"/>
              </a:rPr>
              <a:t>The explanation and safe repair are harder.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F524AE-E7C3-4C99-80F2-6A7DD6C13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9620250"/>
            <a:ext cx="1504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46174"/>
                </a:solidFill>
                <a:latin typeface="Arial"/>
                <a:ea typeface="Arial"/>
                <a:cs typeface="Arial"/>
              </a:rPr>
              <a:t>TraceVerdict · Helios · Open Agent Hackathon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EA2C03-2147-4C4D-9755-9ECBFE177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960120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F3A5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1583DE-BFC2-4C07-83AA-7A189F232370}"/>
              </a:ext>
            </a:extLst>
          </p:cNvPr>
          <p:cNvGraphicFramePr/>
          <p:nvPr/>
        </p:nvGraphicFramePr>
        <p:xfrm>
          <a:off xmlns:a="http://schemas.openxmlformats.org/drawingml/2006/main" x="914400" y="4191000"/>
          <a:ext xmlns:a="http://schemas.openxmlformats.org/drawingml/2006/main" cx="164592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229600"/>
                <a:gridCol w="8229600"/>
              </a:tblGrid>
              <a:tr h="1047750">
                <a:tc>
                  <a:txBody>
                    <a:bodyPr/>
                    <a:lstStyle/>
                    <a:p>
                      <a:r>
                        <a:rPr sz="27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the user authorized</a:t>
                      </a:r>
                    </a:p>
                  </a:txBody>
                  <a:tcPr marL="91440" marR="91440" marT="45720" marB="4572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7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the incident records</a:t>
                      </a:r>
                    </a:p>
                  </a:txBody>
                  <a:tcPr marL="91440" marR="91440" marT="45720" marB="45720">
                    <a:solidFill>
                      <a:srgbClr val="1F3A5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775" b="0">
                          <a:solidFill>
                            <a:srgbClr val="13213C"/>
                          </a:solidFill>
                          <a:latin typeface="Arial"/>
                          <a:ea typeface="Arial"/>
                          <a:cs typeface="Arial"/>
                        </a:rPr>
                        <a:t>Summarize a supplier report.</a:t>
                      </a:r>
                    </a:p>
                    <a:p>
                      <a:r>
                        <a:rPr sz="2775" b="0">
                          <a:solidFill>
                            <a:srgbClr val="13213C"/>
                          </a:solidFill>
                          <a:latin typeface="Arial"/>
                          <a:ea typeface="Arial"/>
                          <a:cs typeface="Arial"/>
                        </a:rPr>
                        <a:t>Do not contact anyone.</a:t>
                      </a:r>
                    </a:p>
                  </a:txBody>
                  <a:tcPr marL="91440" marR="91440" marT="45720" marB="45720"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775" b="0">
                          <a:solidFill>
                            <a:srgbClr val="13213C"/>
                          </a:solidFill>
                          <a:latin typeface="Arial"/>
                          <a:ea typeface="Arial"/>
                          <a:cs typeface="Arial"/>
                        </a:rPr>
                        <a:t>An untrusted document requests an external send.</a:t>
                      </a:r>
                    </a:p>
                  </a:txBody>
                  <a:tcPr marL="91440" marR="91440" marT="45720" marB="45720">
                    <a:solidFill>
                      <a:srgbClr val="FDFDFB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775" b="0">
                          <a:solidFill>
                            <a:srgbClr val="13213C"/>
                          </a:solidFill>
                          <a:latin typeface="Arial"/>
                          <a:ea typeface="Arial"/>
                          <a:cs typeface="Arial"/>
                        </a:rPr>
                        <a:t>Keep legitimate reporting possible.</a:t>
                      </a:r>
                    </a:p>
                  </a:txBody>
                  <a:tcPr marL="91440" marR="91440" marT="45720" marB="4572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775" b="0">
                          <a:solidFill>
                            <a:srgbClr val="13213C"/>
                          </a:solidFill>
                          <a:latin typeface="Arial"/>
                          <a:ea typeface="Arial"/>
                          <a:cs typeface="Arial"/>
                        </a:rPr>
                        <a:t>A broad restriction can also block authorized communication.</a:t>
                      </a:r>
                    </a:p>
                  </a:txBody>
                  <a:tcPr marL="91440" marR="91440" marT="45720" marB="45720"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07A663-6AFD-4A1D-B502-FFC159FAA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858125"/>
            <a:ext cx="16002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F3A5F"/>
                </a:solidFill>
                <a:latin typeface="Arial"/>
                <a:ea typeface="Arial"/>
                <a:cs typeface="Arial"/>
              </a:rPr>
              <a:t>Reviewers need the original task, document, historical policy and execution receipt together.</a:t>
            </a:r>
          </a:p>
        </p:txBody>
      </p:sp>
    </p:spTree>
    <p:extLst>
      <p:ext uri="{BB962C8B-B14F-4D97-AF65-F5344CB8AC3E}">
        <p14:creationId xmlns:p14="http://schemas.microsoft.com/office/powerpoint/2010/main" val="16390293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763288-4933-4319-9BC7-432A07655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3400"/>
            <a:ext cx="1638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F3A5F"/>
                </a:solidFill>
                <a:latin typeface="Arial"/>
                <a:ea typeface="Arial"/>
                <a:cs typeface="Arial"/>
              </a:rPr>
              <a:t>03 · PROPOSED 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922BA0-79E9-4A15-AD74-485F97319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285875"/>
            <a:ext cx="16383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defPPr>
            <a:lvl1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1pPr>
            <a:lvl2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2pPr>
            <a:lvl3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3pPr>
            <a:lvl4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4pPr>
            <a:lvl5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5pPr>
            <a:lvl6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6pPr>
            <a:lvl7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7pPr>
            <a:lvl8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8pPr>
            <a:lvl9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3213C"/>
                </a:solidFill>
                <a:latin typeface="Arial"/>
                <a:ea typeface="Arial"/>
                <a:cs typeface="Arial"/>
              </a:rPr>
              <a:t>One investigation, from evidence to repair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952B9A-229D-4FE8-9232-6C23A86DA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9620250"/>
            <a:ext cx="1504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46174"/>
                </a:solidFill>
                <a:latin typeface="Arial"/>
                <a:ea typeface="Arial"/>
                <a:cs typeface="Arial"/>
              </a:rPr>
              <a:t>TraceVerdict · Helios · Open Agent Hackathon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F1C27B-921A-4DD7-A273-25BA1C80C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960120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F3A5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47D0CC-9371-4A66-A13C-55148F4F2AC0}"/>
              </a:ext>
            </a:extLst>
          </p:cNvPr>
          <p:cNvGraphicFramePr/>
          <p:nvPr/>
        </p:nvGraphicFramePr>
        <p:xfrm>
          <a:off xmlns:a="http://schemas.openxmlformats.org/drawingml/2006/main" x="914400" y="3429000"/>
          <a:ext xmlns:a="http://schemas.openxmlformats.org/drawingml/2006/main" cx="16459200" cy="5524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572000"/>
                <a:gridCol w="11887200"/>
              </a:tblGrid>
              <a:tr h="1104900">
                <a:tc>
                  <a:txBody>
                    <a:bodyPr/>
                    <a:lstStyle/>
                    <a:p>
                      <a:r>
                        <a:rPr sz="24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Stage</a:t>
                      </a:r>
                    </a:p>
                  </a:txBody>
                  <a:tcPr marL="91440" marR="91440" marT="45720" marB="4572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the reviewer receives</a:t>
                      </a:r>
                    </a:p>
                  </a:txBody>
                  <a:tcPr marL="91440" marR="91440" marT="45720" marB="45720">
                    <a:solidFill>
                      <a:srgbClr val="1F3A5F"/>
                    </a:solidFill>
                  </a:tcPr>
                </a:tc>
              </a:tr>
              <a:tr h="1104900">
                <a:tc>
                  <a:txBody>
                    <a:bodyPr/>
                    <a:lstStyle/>
                    <a:p>
                      <a:r>
                        <a:rPr sz="2475" b="0">
                          <a:solidFill>
                            <a:srgbClr val="13213C"/>
                          </a:solidFill>
                          <a:latin typeface="Arial"/>
                          <a:ea typeface="Arial"/>
                          <a:cs typeface="Arial"/>
                        </a:rPr>
                        <a:t>Collect</a:t>
                      </a:r>
                    </a:p>
                  </a:txBody>
                  <a:tcPr marL="91440" marR="91440" marT="45720" marB="45720"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75" b="0">
                          <a:solidFill>
                            <a:srgbClr val="13213C"/>
                          </a:solidFill>
                          <a:latin typeface="Arial"/>
                          <a:ea typeface="Arial"/>
                          <a:cs typeface="Arial"/>
                        </a:rPr>
                        <a:t>Scoped source records, versions, hashes and query receipts</a:t>
                      </a:r>
                    </a:p>
                  </a:txBody>
                  <a:tcPr marL="91440" marR="91440" marT="45720" marB="45720">
                    <a:solidFill>
                      <a:srgbClr val="FDFDFB"/>
                    </a:solidFill>
                  </a:tcPr>
                </a:tc>
              </a:tr>
              <a:tr h="1104900">
                <a:tc>
                  <a:txBody>
                    <a:bodyPr/>
                    <a:lstStyle/>
                    <a:p>
                      <a:r>
                        <a:rPr sz="2475" b="0">
                          <a:solidFill>
                            <a:srgbClr val="13213C"/>
                          </a:solidFill>
                          <a:latin typeface="Arial"/>
                          <a:ea typeface="Arial"/>
                          <a:cs typeface="Arial"/>
                        </a:rPr>
                        <a:t>Explain and critique</a:t>
                      </a:r>
                    </a:p>
                  </a:txBody>
                  <a:tcPr marL="91440" marR="91440" marT="45720" marB="4572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75" b="0">
                          <a:solidFill>
                            <a:srgbClr val="13213C"/>
                          </a:solidFill>
                          <a:latin typeface="Arial"/>
                          <a:ea typeface="Arial"/>
                          <a:cs typeface="Arial"/>
                        </a:rPr>
                        <a:t>Cited claims, specific challenges and visible uncertainty</a:t>
                      </a:r>
                    </a:p>
                  </a:txBody>
                  <a:tcPr marL="91440" marR="91440" marT="45720" marB="45720">
                    <a:solidFill>
                      <a:srgbClr val="EEF2F6"/>
                    </a:solidFill>
                  </a:tcPr>
                </a:tc>
              </a:tr>
              <a:tr h="1104900">
                <a:tc>
                  <a:txBody>
                    <a:bodyPr/>
                    <a:lstStyle/>
                    <a:p>
                      <a:r>
                        <a:rPr sz="2475" b="0">
                          <a:solidFill>
                            <a:srgbClr val="13213C"/>
                          </a:solidFill>
                          <a:latin typeface="Arial"/>
                          <a:ea typeface="Arial"/>
                          <a:cs typeface="Arial"/>
                        </a:rPr>
                        <a:t>Test the repair</a:t>
                      </a:r>
                    </a:p>
                  </a:txBody>
                  <a:tcPr marL="91440" marR="91440" marT="45720" marB="45720"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75" b="0">
                          <a:solidFill>
                            <a:srgbClr val="13213C"/>
                          </a:solidFill>
                          <a:latin typeface="Arial"/>
                          <a:ea typeface="Arial"/>
                          <a:cs typeface="Arial"/>
                        </a:rPr>
                        <a:t>Exact policy diff with safety and legitimate-utility outcomes</a:t>
                      </a:r>
                    </a:p>
                  </a:txBody>
                  <a:tcPr marL="91440" marR="91440" marT="45720" marB="45720">
                    <a:solidFill>
                      <a:srgbClr val="FDFDFB"/>
                    </a:solidFill>
                  </a:tcPr>
                </a:tc>
              </a:tr>
              <a:tr h="1104900">
                <a:tc>
                  <a:txBody>
                    <a:bodyPr/>
                    <a:lstStyle/>
                    <a:p>
                      <a:r>
                        <a:rPr sz="2475" b="0">
                          <a:solidFill>
                            <a:srgbClr val="13213C"/>
                          </a:solidFill>
                          <a:latin typeface="Arial"/>
                          <a:ea typeface="Arial"/>
                          <a:cs typeface="Arial"/>
                        </a:rPr>
                        <a:t>Review and export</a:t>
                      </a:r>
                    </a:p>
                  </a:txBody>
                  <a:tcPr marL="91440" marR="91440" marT="45720" marB="4572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75" b="0">
                          <a:solidFill>
                            <a:srgbClr val="13213C"/>
                          </a:solidFill>
                          <a:latin typeface="Arial"/>
                          <a:ea typeface="Arial"/>
                          <a:cs typeface="Arial"/>
                        </a:rPr>
                        <a:t>Recommendation bound to the reviewed artifacts; no automatic deployment</a:t>
                      </a:r>
                    </a:p>
                  </a:txBody>
                  <a:tcPr marL="91440" marR="91440" marT="45720" marB="45720"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18931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D52DD6-D5E7-4583-A31B-193220751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3400"/>
            <a:ext cx="1638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F3A5F"/>
                </a:solidFill>
                <a:latin typeface="Arial"/>
                <a:ea typeface="Arial"/>
                <a:cs typeface="Arial"/>
              </a:rPr>
              <a:t>04 ·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C61DFB-C24D-479D-95F7-4A0DEC3E2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285875"/>
            <a:ext cx="16383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defPPr>
            <a:lvl1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1pPr>
            <a:lvl2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2pPr>
            <a:lvl3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3pPr>
            <a:lvl4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4pPr>
            <a:lvl5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5pPr>
            <a:lvl6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6pPr>
            <a:lvl7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7pPr>
            <a:lvl8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8pPr>
            <a:lvl9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3213C"/>
                </a:solidFill>
                <a:latin typeface="Arial"/>
                <a:ea typeface="Arial"/>
                <a:cs typeface="Arial"/>
              </a:rPr>
              <a:t>The graph connects evidence to every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FC5812-5879-4B77-8643-F6EF259FB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48000"/>
            <a:ext cx="1619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46174"/>
                </a:solidFill>
                <a:latin typeface="Arial"/>
                <a:ea typeface="Arial"/>
                <a:cs typeface="Arial"/>
              </a:rPr>
              <a:t>Three independent source databases; one governed access path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51DF2E-58A3-4EA4-B9EC-6582656D5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9620250"/>
            <a:ext cx="1504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46174"/>
                </a:solidFill>
                <a:latin typeface="Arial"/>
                <a:ea typeface="Arial"/>
                <a:cs typeface="Arial"/>
              </a:rPr>
              <a:t>TraceVerdict · Helios · Open Agent Hackathon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CD5EEB-2015-4C6D-A1B7-E60ADD79D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960120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F3A5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EF7706-0BE7-4BB0-9EEE-6DC192B29C1C}"/>
              </a:ext>
            </a:extLst>
          </p:cNvPr>
          <p:cNvGraphicFramePr/>
          <p:nvPr/>
        </p:nvGraphicFramePr>
        <p:xfrm>
          <a:off xmlns:a="http://schemas.openxmlformats.org/drawingml/2006/main" x="914400" y="4191000"/>
          <a:ext xmlns:a="http://schemas.openxmlformats.org/drawingml/2006/main" cx="16459200" cy="4572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953000"/>
                <a:gridCol w="11506200"/>
              </a:tblGrid>
              <a:tr h="914400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Layer</a:t>
                      </a:r>
                    </a:p>
                  </a:txBody>
                  <a:tcPr marL="91440" marR="91440" marT="45720" marB="4572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Working responsibility</a:t>
                      </a:r>
                    </a:p>
                  </a:txBody>
                  <a:tcPr marL="91440" marR="91440" marT="45720" marB="45720">
                    <a:solidFill>
                      <a:srgbClr val="1F3A5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3213C"/>
                          </a:solidFill>
                          <a:latin typeface="Arial"/>
                          <a:ea typeface="Arial"/>
                          <a:cs typeface="Arial"/>
                        </a:rPr>
                        <a:t>Zetaris native USL</a:t>
                      </a:r>
                    </a:p>
                  </a:txBody>
                  <a:tcPr marL="91440" marR="91440" marT="45720" marB="45720"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3213C"/>
                          </a:solidFill>
                          <a:latin typeface="Arial"/>
                          <a:ea typeface="Arial"/>
                          <a:cs typeface="Arial"/>
                        </a:rPr>
                        <a:t>Events/receipts + historical configuration + trusted references</a:t>
                      </a:r>
                    </a:p>
                  </a:txBody>
                  <a:tcPr marL="91440" marR="91440" marT="45720" marB="45720">
                    <a:solidFill>
                      <a:srgbClr val="FDFDFB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3213C"/>
                          </a:solidFill>
                          <a:latin typeface="Arial"/>
                          <a:ea typeface="Arial"/>
                          <a:cs typeface="Arial"/>
                        </a:rPr>
                        <a:t>World Model Engine</a:t>
                      </a:r>
                    </a:p>
                  </a:txBody>
                  <a:tcPr marL="91440" marR="91440" marT="45720" marB="4572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3213C"/>
                          </a:solidFill>
                          <a:latin typeface="Arial"/>
                          <a:ea typeface="Arial"/>
                          <a:cs typeface="Arial"/>
                        </a:rPr>
                        <a:t>Provenance events, stable entities and temporal graph relationships</a:t>
                      </a:r>
                    </a:p>
                  </a:txBody>
                  <a:tcPr marL="91440" marR="91440" marT="45720" marB="45720">
                    <a:solidFill>
                      <a:srgbClr val="EEF2F6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3213C"/>
                          </a:solidFill>
                          <a:latin typeface="Arial"/>
                          <a:ea typeface="Arial"/>
                          <a:cs typeface="Arial"/>
                        </a:rPr>
                        <a:t>Nightshift + NVIDIA</a:t>
                      </a:r>
                    </a:p>
                  </a:txBody>
                  <a:tcPr marL="91440" marR="91440" marT="45720" marB="45720"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3213C"/>
                          </a:solidFill>
                          <a:latin typeface="Arial"/>
                          <a:ea typeface="Arial"/>
                          <a:cs typeface="Arial"/>
                        </a:rPr>
                        <a:t>Investigator → critic → typed repair proposal</a:t>
                      </a:r>
                    </a:p>
                  </a:txBody>
                  <a:tcPr marL="91440" marR="91440" marT="45720" marB="45720">
                    <a:solidFill>
                      <a:srgbClr val="FDFDFB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3213C"/>
                          </a:solidFill>
                          <a:latin typeface="Arial"/>
                          <a:ea typeface="Arial"/>
                          <a:cs typeface="Arial"/>
                        </a:rPr>
                        <a:t>Deterministic controller</a:t>
                      </a:r>
                    </a:p>
                  </a:txBody>
                  <a:tcPr marL="91440" marR="91440" marT="45720" marB="4572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3213C"/>
                          </a:solidFill>
                          <a:latin typeface="Arial"/>
                          <a:ea typeface="Arial"/>
                          <a:cs typeface="Arial"/>
                        </a:rPr>
                        <a:t>Local replay → safety/utility gate → hash-bound review</a:t>
                      </a:r>
                    </a:p>
                  </a:txBody>
                  <a:tcPr marL="91440" marR="91440" marT="45720" marB="45720"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62F176-694A-4B2A-8A22-00450614C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8982075"/>
            <a:ext cx="1628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46174"/>
                </a:solidFill>
                <a:latin typeface="Arial"/>
                <a:ea typeface="Arial"/>
                <a:cs typeface="Arial"/>
              </a:rPr>
              <a:t>TraceVerdict investigates and recommends. The existing IntentSeal action guard enforces local replay policy.</a:t>
            </a:r>
          </a:p>
        </p:txBody>
      </p:sp>
    </p:spTree>
    <p:extLst>
      <p:ext uri="{BB962C8B-B14F-4D97-AF65-F5344CB8AC3E}">
        <p14:creationId xmlns:p14="http://schemas.microsoft.com/office/powerpoint/2010/main" val="8449943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1478D3-8210-4E80-A551-0BA6E34AD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3400"/>
            <a:ext cx="1638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F3A5F"/>
                </a:solidFill>
                <a:latin typeface="Arial"/>
                <a:ea typeface="Arial"/>
                <a:cs typeface="Arial"/>
              </a:rPr>
              <a:t>05 · NVIDIA MODEL ALLOCATION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EDBF75-08EC-4202-BC10-3AFDAB051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285875"/>
            <a:ext cx="16383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defPPr>
            <a:lvl1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1pPr>
            <a:lvl2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2pPr>
            <a:lvl3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3pPr>
            <a:lvl4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4pPr>
            <a:lvl5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5pPr>
            <a:lvl6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6pPr>
            <a:lvl7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7pPr>
            <a:lvl8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8pPr>
            <a:lvl9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3213C"/>
                </a:solidFill>
                <a:latin typeface="Arial"/>
                <a:ea typeface="Arial"/>
                <a:cs typeface="Arial"/>
              </a:rPr>
              <a:t>Each Nemotron route has a measured job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521A80-07A4-40C3-B716-136325740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48000"/>
            <a:ext cx="1619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46174"/>
                </a:solidFill>
                <a:latin typeface="Arial"/>
                <a:ea typeface="Arial"/>
                <a:cs typeface="Arial"/>
              </a:rPr>
              <a:t>Real NVIDIA inference through the primary Nightshift runtime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8067B2-3F67-4D89-83AD-9C7486CA7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9620250"/>
            <a:ext cx="1504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46174"/>
                </a:solidFill>
                <a:latin typeface="Arial"/>
                <a:ea typeface="Arial"/>
                <a:cs typeface="Arial"/>
              </a:rPr>
              <a:t>TraceVerdict · Helios · Open Agent Hackathon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5C66F5-CB3D-4968-88F1-FA05D5BFE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960120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F3A5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99A0C0-520A-4C9F-B8A1-14F823355816}"/>
              </a:ext>
            </a:extLst>
          </p:cNvPr>
          <p:cNvGraphicFramePr/>
          <p:nvPr/>
        </p:nvGraphicFramePr>
        <p:xfrm>
          <a:off xmlns:a="http://schemas.openxmlformats.org/drawingml/2006/main" x="914400" y="4238625"/>
          <a:ext xmlns:a="http://schemas.openxmlformats.org/drawingml/2006/main" cx="16459200" cy="3000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476750"/>
                <a:gridCol w="5810250"/>
                <a:gridCol w="3048000"/>
                <a:gridCol w="3124200"/>
              </a:tblGrid>
              <a:tr h="1000125">
                <a:tc>
                  <a:txBody>
                    <a:bodyPr/>
                    <a:lstStyle/>
                    <a:p>
                      <a:r>
                        <a:rPr sz="24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Route</a:t>
                      </a:r>
                    </a:p>
                  </a:txBody>
                  <a:tcPr marL="91440" marR="91440" marT="45720" marB="4572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Product role</a:t>
                      </a:r>
                    </a:p>
                  </a:txBody>
                  <a:tcPr marL="91440" marR="91440" marT="45720" marB="4572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Utility trials</a:t>
                      </a:r>
                    </a:p>
                  </a:txBody>
                  <a:tcPr marL="91440" marR="91440" marT="45720" marB="4572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Call p50</a:t>
                      </a:r>
                    </a:p>
                  </a:txBody>
                  <a:tcPr marL="91440" marR="91440" marT="45720" marB="45720">
                    <a:solidFill>
                      <a:srgbClr val="1F3A5F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r>
                        <a:rPr sz="2475" b="0">
                          <a:solidFill>
                            <a:srgbClr val="13213C"/>
                          </a:solidFill>
                          <a:latin typeface="Arial"/>
                          <a:ea typeface="Arial"/>
                          <a:cs typeface="Arial"/>
                        </a:rPr>
                        <a:t>Lightning 30B A3B</a:t>
                      </a:r>
                    </a:p>
                  </a:txBody>
                  <a:tcPr marL="91440" marR="91440" marT="45720" marB="45720"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75" b="0">
                          <a:solidFill>
                            <a:srgbClr val="13213C"/>
                          </a:solidFill>
                          <a:latin typeface="Arial"/>
                          <a:ea typeface="Arial"/>
                          <a:cs typeface="Arial"/>
                        </a:rPr>
                        <a:t>Investigator, critic, planner</a:t>
                      </a:r>
                    </a:p>
                  </a:txBody>
                  <a:tcPr marL="91440" marR="91440" marT="45720" marB="45720"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75" b="0">
                          <a:solidFill>
                            <a:srgbClr val="13213C"/>
                          </a:solidFill>
                          <a:latin typeface="Arial"/>
                          <a:ea typeface="Arial"/>
                          <a:cs typeface="Arial"/>
                        </a:rPr>
                        <a:t>15 / 18</a:t>
                      </a:r>
                    </a:p>
                  </a:txBody>
                  <a:tcPr marL="91440" marR="91440" marT="45720" marB="45720"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75" b="0">
                          <a:solidFill>
                            <a:srgbClr val="13213C"/>
                          </a:solidFill>
                          <a:latin typeface="Arial"/>
                          <a:ea typeface="Arial"/>
                          <a:cs typeface="Arial"/>
                        </a:rPr>
                        <a:t>678 ms</a:t>
                      </a:r>
                    </a:p>
                  </a:txBody>
                  <a:tcPr marL="91440" marR="91440" marT="45720" marB="45720">
                    <a:solidFill>
                      <a:srgbClr val="FDFDFB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r>
                        <a:rPr sz="2475" b="0">
                          <a:solidFill>
                            <a:srgbClr val="13213C"/>
                          </a:solidFill>
                          <a:latin typeface="Arial"/>
                          <a:ea typeface="Arial"/>
                          <a:cs typeface="Arial"/>
                        </a:rPr>
                        <a:t>Ultra 550B A55B</a:t>
                      </a:r>
                    </a:p>
                  </a:txBody>
                  <a:tcPr marL="91440" marR="91440" marT="45720" marB="4572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75" b="0">
                          <a:solidFill>
                            <a:srgbClr val="13213C"/>
                          </a:solidFill>
                          <a:latin typeface="Arial"/>
                          <a:ea typeface="Arial"/>
                          <a:cs typeface="Arial"/>
                        </a:rPr>
                        <a:t>Model-selected replay actions</a:t>
                      </a:r>
                    </a:p>
                  </a:txBody>
                  <a:tcPr marL="91440" marR="91440" marT="45720" marB="4572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75" b="0">
                          <a:solidFill>
                            <a:srgbClr val="13213C"/>
                          </a:solidFill>
                          <a:latin typeface="Arial"/>
                          <a:ea typeface="Arial"/>
                          <a:cs typeface="Arial"/>
                        </a:rPr>
                        <a:t>18 / 18</a:t>
                      </a:r>
                    </a:p>
                  </a:txBody>
                  <a:tcPr marL="91440" marR="91440" marT="45720" marB="4572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75" b="0">
                          <a:solidFill>
                            <a:srgbClr val="13213C"/>
                          </a:solidFill>
                          <a:latin typeface="Arial"/>
                          <a:ea typeface="Arial"/>
                          <a:cs typeface="Arial"/>
                        </a:rPr>
                        <a:t>2,150 ms</a:t>
                      </a:r>
                    </a:p>
                  </a:txBody>
                  <a:tcPr marL="91440" marR="91440" marT="45720" marB="45720"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3A86E3-060B-40D9-988F-DD8381B4F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667625"/>
            <a:ext cx="16097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46174"/>
                </a:solidFill>
                <a:latin typeface="Arial"/>
                <a:ea typeface="Arial"/>
                <a:cs typeface="Arial"/>
              </a:rPr>
              <a:t>48 development trials: the same 12 tasks repeated twice per route. All outcomes retained. Both routes resisted their six unsafe trials.</a:t>
            </a:r>
          </a:p>
        </p:txBody>
      </p:sp>
    </p:spTree>
    <p:extLst>
      <p:ext uri="{BB962C8B-B14F-4D97-AF65-F5344CB8AC3E}">
        <p14:creationId xmlns:p14="http://schemas.microsoft.com/office/powerpoint/2010/main" val="21256090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02C378-AA2F-4A06-A5B5-79D59BF67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3400"/>
            <a:ext cx="1638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F3A5F"/>
                </a:solidFill>
                <a:latin typeface="Arial"/>
                <a:ea typeface="Arial"/>
                <a:cs typeface="Arial"/>
              </a:rPr>
              <a:t>06 · PRODUCT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73DF56-A543-494C-B972-F9BBB91C4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285875"/>
            <a:ext cx="16383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defPPr>
            <a:lvl1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1pPr>
            <a:lvl2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2pPr>
            <a:lvl3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3pPr>
            <a:lvl4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4pPr>
            <a:lvl5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5pPr>
            <a:lvl6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6pPr>
            <a:lvl7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7pPr>
            <a:lvl8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8pPr>
            <a:lvl9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3213C"/>
                </a:solidFill>
                <a:latin typeface="Arial"/>
                <a:ea typeface="Arial"/>
                <a:cs typeface="Arial"/>
              </a:rPr>
              <a:t>Inspect the source. Challenge the explanation.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B715D7-FD94-4EA9-A94A-5DAF42F3B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9620250"/>
            <a:ext cx="1504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46174"/>
                </a:solidFill>
                <a:latin typeface="Arial"/>
                <a:ea typeface="Arial"/>
                <a:cs typeface="Arial"/>
              </a:rPr>
              <a:t>TraceVerdict · Helios · Open Agent Hackathon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E90EEC-C439-4D9F-BACF-ED809C3F2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960120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F3A5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6B09C6-207C-49F0-A190-2AD89064AF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94a70b230d407c"/>
          <a:srcRect xmlns:a="http://schemas.openxmlformats.org/drawingml/2006/main" l="21000" t="25000" r="2000" b="34000"/>
          <a:stretch xmlns:a="http://schemas.openxmlformats.org/drawingml/2006/main"/>
        </p:blipFill>
        <p:spPr>
          <a:xfrm xmlns:a="http://schemas.openxmlformats.org/drawingml/2006/main">
            <a:off x="895350" y="3333750"/>
            <a:ext cx="11715750" cy="5715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B1DC06-550F-46C7-A046-AC7F6EBBD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3905250"/>
            <a:ext cx="40957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F3A5F"/>
                </a:solidFill>
                <a:latin typeface="Arial"/>
                <a:ea typeface="Arial"/>
                <a:cs typeface="Arial"/>
              </a:rPr>
              <a:t>Select a source or relation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F3A5F"/>
                </a:solidFill>
                <a:latin typeface="Arial"/>
                <a:ea typeface="Arial"/>
                <a:cs typeface="Arial"/>
              </a:rPr>
              <a:t>Inspect its evidence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F3A5F"/>
                </a:solidFill>
                <a:latin typeface="Arial"/>
                <a:ea typeface="Arial"/>
                <a:cs typeface="Arial"/>
              </a:rPr>
              <a:t>Review the critic’s response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395F01-F3AE-4823-A92F-BE11405A7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9105900"/>
            <a:ext cx="1619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46174"/>
                </a:solidFill>
                <a:latin typeface="Arial"/>
                <a:ea typeface="Arial"/>
                <a:cs typeface="Arial"/>
              </a:rPr>
              <a:t>Recorded synthetic case screen; live sponsor execution receipts are provided separately.</a:t>
            </a:r>
          </a:p>
        </p:txBody>
      </p:sp>
    </p:spTree>
    <p:extLst>
      <p:ext uri="{BB962C8B-B14F-4D97-AF65-F5344CB8AC3E}">
        <p14:creationId xmlns:p14="http://schemas.microsoft.com/office/powerpoint/2010/main" val="20781425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230565-7D83-408D-81C4-DBF2EFF2C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3400"/>
            <a:ext cx="1638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F3A5F"/>
                </a:solidFill>
                <a:latin typeface="Arial"/>
                <a:ea typeface="Arial"/>
                <a:cs typeface="Arial"/>
              </a:rPr>
              <a:t>07 · REPAIR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D33183-B694-4C26-8225-CED0EB83A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285875"/>
            <a:ext cx="16383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defPPr>
            <a:lvl1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1pPr>
            <a:lvl2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2pPr>
            <a:lvl3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3pPr>
            <a:lvl4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4pPr>
            <a:lvl5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5pPr>
            <a:lvl6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6pPr>
            <a:lvl7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7pPr>
            <a:lvl8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8pPr>
            <a:lvl9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3213C"/>
                </a:solidFill>
                <a:latin typeface="Arial"/>
                <a:ea typeface="Arial"/>
                <a:cs typeface="Arial"/>
              </a:rPr>
              <a:t>A stricter repair can be the wrong repair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47CBE6-D49A-43AA-BB68-C5169AEB8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48000"/>
            <a:ext cx="1619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46174"/>
                </a:solidFill>
                <a:latin typeface="Arial"/>
                <a:ea typeface="Arial"/>
                <a:cs typeface="Arial"/>
              </a:rPr>
              <a:t>Actual supplier/invoice comparison with local executors and live model calls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16C4DB-BC00-4AD0-8145-920C6036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9620250"/>
            <a:ext cx="1504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46174"/>
                </a:solidFill>
                <a:latin typeface="Arial"/>
                <a:ea typeface="Arial"/>
                <a:cs typeface="Arial"/>
              </a:rPr>
              <a:t>TraceVerdict · Helios · Open Agent Hackathon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EA6F3B-8D41-41B5-B45D-67F827E88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960120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F3A5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FF7317-0E7B-4C36-A175-46E1D00F4756}"/>
              </a:ext>
            </a:extLst>
          </p:cNvPr>
          <p:cNvGraphicFramePr/>
          <p:nvPr/>
        </p:nvGraphicFramePr>
        <p:xfrm>
          <a:off xmlns:a="http://schemas.openxmlformats.org/drawingml/2006/main" x="914400" y="4238625"/>
          <a:ext xmlns:a="http://schemas.openxmlformats.org/drawingml/2006/main" cx="164592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238750"/>
                <a:gridCol w="3905250"/>
                <a:gridCol w="3714750"/>
                <a:gridCol w="3600450"/>
              </a:tblGrid>
              <a:tr h="1016000">
                <a:tc>
                  <a:txBody>
                    <a:bodyPr/>
                    <a:lstStyle/>
                    <a:p>
                      <a:r>
                        <a:rPr sz="25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Candidate</a:t>
                      </a:r>
                    </a:p>
                  </a:txBody>
                  <a:tcPr marL="91440" marR="91440" marT="45720" marB="4572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Fixed-action tasks</a:t>
                      </a:r>
                    </a:p>
                  </a:txBody>
                  <a:tcPr marL="91440" marR="91440" marT="45720" marB="4572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Live utility tasks</a:t>
                      </a:r>
                    </a:p>
                  </a:txBody>
                  <a:tcPr marL="91440" marR="91440" marT="45720" marB="4572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Gate outcome</a:t>
                      </a:r>
                    </a:p>
                  </a:txBody>
                  <a:tcPr marL="91440" marR="91440" marT="45720" marB="45720">
                    <a:solidFill>
                      <a:srgbClr val="1F3A5F"/>
                    </a:solidFill>
                  </a:tcPr>
                </a:tc>
              </a:tr>
              <a:tr h="1016000">
                <a:tc>
                  <a:txBody>
                    <a:bodyPr/>
                    <a:lstStyle/>
                    <a:p>
                      <a:r>
                        <a:rPr sz="2550" b="0">
                          <a:solidFill>
                            <a:srgbClr val="13213C"/>
                          </a:solidFill>
                          <a:latin typeface="Arial"/>
                          <a:ea typeface="Arial"/>
                          <a:cs typeface="Arial"/>
                        </a:rPr>
                        <a:t>Targeted model repair</a:t>
                      </a:r>
                    </a:p>
                  </a:txBody>
                  <a:tcPr marL="91440" marR="91440" marT="45720" marB="45720"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50" b="0">
                          <a:solidFill>
                            <a:srgbClr val="13213C"/>
                          </a:solidFill>
                          <a:latin typeface="Arial"/>
                          <a:ea typeface="Arial"/>
                          <a:cs typeface="Arial"/>
                        </a:rPr>
                        <a:t>20 / 20</a:t>
                      </a:r>
                    </a:p>
                  </a:txBody>
                  <a:tcPr marL="91440" marR="91440" marT="45720" marB="45720"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50" b="0">
                          <a:solidFill>
                            <a:srgbClr val="13213C"/>
                          </a:solidFill>
                          <a:latin typeface="Arial"/>
                          <a:ea typeface="Arial"/>
                          <a:cs typeface="Arial"/>
                        </a:rPr>
                        <a:t>8 / 8</a:t>
                      </a:r>
                    </a:p>
                  </a:txBody>
                  <a:tcPr marL="91440" marR="91440" marT="45720" marB="45720"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50" b="0">
                          <a:solidFill>
                            <a:srgbClr val="13213C"/>
                          </a:solidFill>
                          <a:latin typeface="Arial"/>
                          <a:ea typeface="Arial"/>
                          <a:cs typeface="Arial"/>
                        </a:rPr>
                        <a:t>Awaiting review</a:t>
                      </a:r>
                    </a:p>
                  </a:txBody>
                  <a:tcPr marL="91440" marR="91440" marT="45720" marB="45720">
                    <a:solidFill>
                      <a:srgbClr val="FDFDFB"/>
                    </a:solidFill>
                  </a:tcPr>
                </a:tc>
              </a:tr>
              <a:tr h="1016000">
                <a:tc>
                  <a:txBody>
                    <a:bodyPr/>
                    <a:lstStyle/>
                    <a:p>
                      <a:r>
                        <a:rPr sz="2550" b="0">
                          <a:solidFill>
                            <a:srgbClr val="13213C"/>
                          </a:solidFill>
                          <a:latin typeface="Arial"/>
                          <a:ea typeface="Arial"/>
                          <a:cs typeface="Arial"/>
                        </a:rPr>
                        <a:t>Restrictive API control</a:t>
                      </a:r>
                    </a:p>
                  </a:txBody>
                  <a:tcPr marL="91440" marR="91440" marT="45720" marB="4572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50" b="0">
                          <a:solidFill>
                            <a:srgbClr val="13213C"/>
                          </a:solidFill>
                          <a:latin typeface="Arial"/>
                          <a:ea typeface="Arial"/>
                          <a:cs typeface="Arial"/>
                        </a:rPr>
                        <a:t>18 / 20</a:t>
                      </a:r>
                    </a:p>
                  </a:txBody>
                  <a:tcPr marL="91440" marR="91440" marT="45720" marB="4572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50" b="0">
                          <a:solidFill>
                            <a:srgbClr val="13213C"/>
                          </a:solidFill>
                          <a:latin typeface="Arial"/>
                          <a:ea typeface="Arial"/>
                          <a:cs typeface="Arial"/>
                        </a:rPr>
                        <a:t>6 / 8</a:t>
                      </a:r>
                    </a:p>
                  </a:txBody>
                  <a:tcPr marL="91440" marR="91440" marT="45720" marB="4572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50" b="0">
                          <a:solidFill>
                            <a:srgbClr val="13213C"/>
                          </a:solidFill>
                          <a:latin typeface="Arial"/>
                          <a:ea typeface="Arial"/>
                          <a:cs typeface="Arial"/>
                        </a:rPr>
                        <a:t>Rejected</a:t>
                      </a:r>
                    </a:p>
                  </a:txBody>
                  <a:tcPr marL="91440" marR="91440" marT="45720" marB="45720"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20A30F-DDB6-4434-BDE5-F82356625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667625"/>
            <a:ext cx="1600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46174"/>
                </a:solidFill>
                <a:latin typeface="Arial"/>
                <a:ea typeface="Arial"/>
                <a:cs typeface="Arial"/>
              </a:rPr>
              <a:t>Both model baselines resisted 12 unsafe prompts. Fixed-action replay separately tests enforcement. The imported nonfixture capture also passed 20/20 tasks.</a:t>
            </a:r>
          </a:p>
        </p:txBody>
      </p:sp>
    </p:spTree>
    <p:extLst>
      <p:ext uri="{BB962C8B-B14F-4D97-AF65-F5344CB8AC3E}">
        <p14:creationId xmlns:p14="http://schemas.microsoft.com/office/powerpoint/2010/main" val="586117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8AEAA4-13DE-4FC4-8AA3-8793C67EA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3400"/>
            <a:ext cx="1638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F3A5F"/>
                </a:solidFill>
                <a:latin typeface="Arial"/>
                <a:ea typeface="Arial"/>
                <a:cs typeface="Arial"/>
              </a:rPr>
              <a:t>08 · BUSINESS MODEL HYPOTHESIS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1E1C06-5941-47D4-ADDD-9D1D9DD78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285875"/>
            <a:ext cx="16383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defPPr>
            <a:lvl1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1pPr>
            <a:lvl2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2pPr>
            <a:lvl3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3pPr>
            <a:lvl4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4pPr>
            <a:lvl5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5pPr>
            <a:lvl6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6pPr>
            <a:lvl7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7pPr>
            <a:lvl8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8pPr>
            <a:lvl9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3213C"/>
                </a:solidFill>
                <a:latin typeface="Arial"/>
                <a:ea typeface="Arial"/>
                <a:cs typeface="Arial"/>
              </a:rPr>
              <a:t>Security review teams need evidence they can act 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184CE7-B6EA-4ACB-BC7E-01465A4BE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9620250"/>
            <a:ext cx="1504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46174"/>
                </a:solidFill>
                <a:latin typeface="Arial"/>
                <a:ea typeface="Arial"/>
                <a:cs typeface="Arial"/>
              </a:rPr>
              <a:t>TraceVerdict · Helios · Open Agent Hackathon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7876B4-5C24-4536-9DED-A09CBCE2A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960120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F3A5F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B3B23E-A9DF-45D0-90A1-891059151F9E}"/>
              </a:ext>
            </a:extLst>
          </p:cNvPr>
          <p:cNvGraphicFramePr/>
          <p:nvPr/>
        </p:nvGraphicFramePr>
        <p:xfrm>
          <a:off xmlns:a="http://schemas.openxmlformats.org/drawingml/2006/main" x="914400" y="3476625"/>
          <a:ext xmlns:a="http://schemas.openxmlformats.org/drawingml/2006/main" cx="16459200" cy="4953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286500"/>
                <a:gridCol w="10172700"/>
              </a:tblGrid>
              <a:tr h="990600">
                <a:tc>
                  <a:txBody>
                    <a:bodyPr/>
                    <a:lstStyle/>
                    <a:p>
                      <a:r>
                        <a:rPr sz="25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Customer and job</a:t>
                      </a:r>
                    </a:p>
                  </a:txBody>
                  <a:tcPr marL="91440" marR="91440" marT="45720" marB="4572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Proposed approach</a:t>
                      </a:r>
                    </a:p>
                  </a:txBody>
                  <a:tcPr marL="91440" marR="91440" marT="45720" marB="45720">
                    <a:solidFill>
                      <a:srgbClr val="1F3A5F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r>
                        <a:rPr sz="2550" b="0">
                          <a:solidFill>
                            <a:srgbClr val="13213C"/>
                          </a:solidFill>
                          <a:latin typeface="Arial"/>
                          <a:ea typeface="Arial"/>
                          <a:cs typeface="Arial"/>
                        </a:rPr>
                        <a:t>Buyer: security / AI platform teams</a:t>
                      </a:r>
                    </a:p>
                  </a:txBody>
                  <a:tcPr marL="91440" marR="91440" marT="45720" marB="45720"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50" b="0">
                          <a:solidFill>
                            <a:srgbClr val="13213C"/>
                          </a:solidFill>
                          <a:latin typeface="Arial"/>
                          <a:ea typeface="Arial"/>
                          <a:cs typeface="Arial"/>
                        </a:rPr>
                        <a:t>Investigate incidents in document-reading, tool-using agents</a:t>
                      </a:r>
                    </a:p>
                  </a:txBody>
                  <a:tcPr marL="91440" marR="91440" marT="45720" marB="45720">
                    <a:solidFill>
                      <a:srgbClr val="FDFDFB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r>
                        <a:rPr sz="2550" b="0">
                          <a:solidFill>
                            <a:srgbClr val="13213C"/>
                          </a:solidFill>
                          <a:latin typeface="Arial"/>
                          <a:ea typeface="Arial"/>
                          <a:cs typeface="Arial"/>
                        </a:rPr>
                        <a:t>Initial wedge</a:t>
                      </a:r>
                    </a:p>
                  </a:txBody>
                  <a:tcPr marL="91440" marR="91440" marT="45720" marB="4572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50" b="0">
                          <a:solidFill>
                            <a:srgbClr val="13213C"/>
                          </a:solidFill>
                          <a:latin typeface="Arial"/>
                          <a:ea typeface="Arial"/>
                          <a:cs typeface="Arial"/>
                        </a:rPr>
                        <a:t>Compare bounded repairs before changing production policy</a:t>
                      </a:r>
                    </a:p>
                  </a:txBody>
                  <a:tcPr marL="91440" marR="91440" marT="45720" marB="45720">
                    <a:solidFill>
                      <a:srgbClr val="EEF2F6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r>
                        <a:rPr sz="2550" b="0">
                          <a:solidFill>
                            <a:srgbClr val="13213C"/>
                          </a:solidFill>
                          <a:latin typeface="Arial"/>
                          <a:ea typeface="Arial"/>
                          <a:cs typeface="Arial"/>
                        </a:rPr>
                        <a:t>Distribution</a:t>
                      </a:r>
                    </a:p>
                  </a:txBody>
                  <a:tcPr marL="91440" marR="91440" marT="45720" marB="45720"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50" b="0">
                          <a:solidFill>
                            <a:srgbClr val="13213C"/>
                          </a:solidFill>
                          <a:latin typeface="Arial"/>
                          <a:ea typeface="Arial"/>
                          <a:cs typeface="Arial"/>
                        </a:rPr>
                        <a:t>Open source, framework integrations and design-partner pilots</a:t>
                      </a:r>
                    </a:p>
                  </a:txBody>
                  <a:tcPr marL="91440" marR="91440" marT="45720" marB="45720">
                    <a:solidFill>
                      <a:srgbClr val="FDFDFB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r>
                        <a:rPr sz="2550" b="0">
                          <a:solidFill>
                            <a:srgbClr val="13213C"/>
                          </a:solidFill>
                          <a:latin typeface="Arial"/>
                          <a:ea typeface="Arial"/>
                          <a:cs typeface="Arial"/>
                        </a:rPr>
                        <a:t>Revenue hypothesis</a:t>
                      </a:r>
                    </a:p>
                  </a:txBody>
                  <a:tcPr marL="91440" marR="91440" marT="45720" marB="4572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50" b="0">
                          <a:solidFill>
                            <a:srgbClr val="13213C"/>
                          </a:solidFill>
                          <a:latin typeface="Arial"/>
                          <a:ea typeface="Arial"/>
                          <a:cs typeface="Arial"/>
                        </a:rPr>
                        <a:t>Managed investigations, enterprise identity and audit workflows</a:t>
                      </a:r>
                    </a:p>
                  </a:txBody>
                  <a:tcPr marL="91440" marR="91440" marT="45720" marB="45720"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547EEE-C1D3-4B35-A01C-8C6D10879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763000"/>
            <a:ext cx="1609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46174"/>
                </a:solidFill>
                <a:latin typeface="Arial"/>
                <a:ea typeface="Arial"/>
                <a:cs typeface="Arial"/>
              </a:rPr>
              <a:t>No paid traction or validated pricing is claimed. Pilot metrics: review time, repair acceptance and legitimate-task preservation.</a:t>
            </a:r>
          </a:p>
        </p:txBody>
      </p:sp>
    </p:spTree>
    <p:extLst>
      <p:ext uri="{BB962C8B-B14F-4D97-AF65-F5344CB8AC3E}">
        <p14:creationId xmlns:p14="http://schemas.microsoft.com/office/powerpoint/2010/main" val="18053837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D90F89-FFFE-41D1-9382-BDE7F9A8C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3400"/>
            <a:ext cx="1638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F3A5F"/>
                </a:solidFill>
                <a:latin typeface="Arial"/>
                <a:ea typeface="Arial"/>
                <a:cs typeface="Arial"/>
              </a:rPr>
              <a:t>09 · VERIFICATION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66A957-318F-4338-B45C-A7062F9ED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285875"/>
            <a:ext cx="16383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defPPr>
            <a:lvl1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1pPr>
            <a:lvl2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2pPr>
            <a:lvl3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3pPr>
            <a:lvl4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4pPr>
            <a:lvl5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5pPr>
            <a:lvl6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6pPr>
            <a:lvl7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7pPr>
            <a:lvl8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8pPr>
            <a:lvl9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3213C"/>
                </a:solidFill>
                <a:latin typeface="Arial"/>
                <a:ea typeface="Arial"/>
                <a:cs typeface="Arial"/>
              </a:rPr>
              <a:t>Reproducible evidence with explicit limits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066746-C824-40E9-BEB4-74581429F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9620250"/>
            <a:ext cx="1504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46174"/>
                </a:solidFill>
                <a:latin typeface="Arial"/>
                <a:ea typeface="Arial"/>
                <a:cs typeface="Arial"/>
              </a:rPr>
              <a:t>TraceVerdict · Helios · Open Agent Hackathon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74503F-1652-4F7F-877A-47B233189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960120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F3A5F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9B7B21-D90C-453A-A454-B355AAE3A297}"/>
              </a:ext>
            </a:extLst>
          </p:cNvPr>
          <p:cNvGraphicFramePr/>
          <p:nvPr/>
        </p:nvGraphicFramePr>
        <p:xfrm>
          <a:off xmlns:a="http://schemas.openxmlformats.org/drawingml/2006/main" x="914400" y="3381375"/>
          <a:ext xmlns:a="http://schemas.openxmlformats.org/drawingml/2006/main" cx="16459200" cy="5048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191250"/>
                <a:gridCol w="3714750"/>
                <a:gridCol w="6553200"/>
              </a:tblGrid>
              <a:tr h="1009650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Check</a:t>
                      </a:r>
                    </a:p>
                  </a:txBody>
                  <a:tcPr marL="91440" marR="91440" marT="45720" marB="4572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Retained result</a:t>
                      </a:r>
                    </a:p>
                  </a:txBody>
                  <a:tcPr marL="91440" marR="91440" marT="45720" marB="4572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Meaning</a:t>
                      </a:r>
                    </a:p>
                  </a:txBody>
                  <a:tcPr marL="91440" marR="91440" marT="45720" marB="45720">
                    <a:solidFill>
                      <a:srgbClr val="1F3A5F"/>
                    </a:solidFill>
                  </a:tcPr>
                </a:tc>
              </a:tr>
              <a:tr h="100965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3213C"/>
                          </a:solidFill>
                          <a:latin typeface="Arial"/>
                          <a:ea typeface="Arial"/>
                          <a:cs typeface="Arial"/>
                        </a:rPr>
                        <a:t>Backend regression</a:t>
                      </a:r>
                    </a:p>
                  </a:txBody>
                  <a:tcPr marL="91440" marR="91440" marT="45720" marB="45720"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3213C"/>
                          </a:solidFill>
                          <a:latin typeface="Arial"/>
                          <a:ea typeface="Arial"/>
                          <a:cs typeface="Arial"/>
                        </a:rPr>
                        <a:t>328 passed, 1 skipped</a:t>
                      </a:r>
                    </a:p>
                  </a:txBody>
                  <a:tcPr marL="91440" marR="91440" marT="45720" marB="45720"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3213C"/>
                          </a:solidFill>
                          <a:latin typeface="Arial"/>
                          <a:ea typeface="Arial"/>
                          <a:cs typeface="Arial"/>
                        </a:rPr>
                        <a:t>Durability, scope, review and recovery coverage</a:t>
                      </a:r>
                    </a:p>
                  </a:txBody>
                  <a:tcPr marL="91440" marR="91440" marT="45720" marB="45720">
                    <a:solidFill>
                      <a:srgbClr val="FDFDFB"/>
                    </a:solidFill>
                  </a:tcPr>
                </a:tc>
              </a:tr>
              <a:tr h="100965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3213C"/>
                          </a:solidFill>
                          <a:latin typeface="Arial"/>
                          <a:ea typeface="Arial"/>
                          <a:cs typeface="Arial"/>
                        </a:rPr>
                        <a:t>Frontend components</a:t>
                      </a:r>
                    </a:p>
                  </a:txBody>
                  <a:tcPr marL="91440" marR="91440" marT="45720" marB="4572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3213C"/>
                          </a:solidFill>
                          <a:latin typeface="Arial"/>
                          <a:ea typeface="Arial"/>
                          <a:cs typeface="Arial"/>
                        </a:rPr>
                        <a:t>12 passed</a:t>
                      </a:r>
                    </a:p>
                  </a:txBody>
                  <a:tcPr marL="91440" marR="91440" marT="45720" marB="4572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3213C"/>
                          </a:solidFill>
                          <a:latin typeface="Arial"/>
                          <a:ea typeface="Arial"/>
                          <a:cs typeface="Arial"/>
                        </a:rPr>
                        <a:t>API-facing UI behavior</a:t>
                      </a:r>
                    </a:p>
                  </a:txBody>
                  <a:tcPr marL="91440" marR="91440" marT="45720" marB="45720">
                    <a:solidFill>
                      <a:srgbClr val="EEF2F6"/>
                    </a:solidFill>
                  </a:tcPr>
                </a:tc>
              </a:tr>
              <a:tr h="100965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3213C"/>
                          </a:solidFill>
                          <a:latin typeface="Arial"/>
                          <a:ea typeface="Arial"/>
                          <a:cs typeface="Arial"/>
                        </a:rPr>
                        <a:t>World Model upstream suite</a:t>
                      </a:r>
                    </a:p>
                  </a:txBody>
                  <a:tcPr marL="91440" marR="91440" marT="45720" marB="45720"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3213C"/>
                          </a:solidFill>
                          <a:latin typeface="Arial"/>
                          <a:ea typeface="Arial"/>
                          <a:cs typeface="Arial"/>
                        </a:rPr>
                        <a:t>8 / 8</a:t>
                      </a:r>
                    </a:p>
                  </a:txBody>
                  <a:tcPr marL="91440" marR="91440" marT="45720" marB="45720"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3213C"/>
                          </a:solidFill>
                          <a:latin typeface="Arial"/>
                          <a:ea typeface="Arial"/>
                          <a:cs typeface="Arial"/>
                        </a:rPr>
                        <a:t>Actual Python implementation via bridge</a:t>
                      </a:r>
                    </a:p>
                  </a:txBody>
                  <a:tcPr marL="91440" marR="91440" marT="45720" marB="45720">
                    <a:solidFill>
                      <a:srgbClr val="FDFDFB"/>
                    </a:solidFill>
                  </a:tcPr>
                </a:tc>
              </a:tr>
              <a:tr h="100965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3213C"/>
                          </a:solidFill>
                          <a:latin typeface="Arial"/>
                          <a:ea typeface="Arial"/>
                          <a:cs typeface="Arial"/>
                        </a:rPr>
                        <a:t>Zetaris native quality rule</a:t>
                      </a:r>
                    </a:p>
                  </a:txBody>
                  <a:tcPr marL="91440" marR="91440" marT="45720" marB="4572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3213C"/>
                          </a:solidFill>
                          <a:latin typeface="Arial"/>
                          <a:ea typeface="Arial"/>
                          <a:cs typeface="Arial"/>
                        </a:rPr>
                        <a:t>63 valid, 0 invalid</a:t>
                      </a:r>
                    </a:p>
                  </a:txBody>
                  <a:tcPr marL="91440" marR="91440" marT="45720" marB="4572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3213C"/>
                          </a:solidFill>
                          <a:latin typeface="Arial"/>
                          <a:ea typeface="Arial"/>
                          <a:cs typeface="Arial"/>
                        </a:rPr>
                        <a:t>Retained run; not current total record count</a:t>
                      </a:r>
                    </a:p>
                  </a:txBody>
                  <a:tcPr marL="91440" marR="91440" marT="45720" marB="45720"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769137-1536-4365-9213-88D6F5C69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905875"/>
            <a:ext cx="1600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46174"/>
                </a:solidFill>
                <a:latin typeface="Arial"/>
                <a:ea typeface="Arial"/>
                <a:cs typeface="Arial"/>
              </a:rPr>
              <a:t>Small synthetic evaluations and local receipts do not establish independent authenticity or universal robustness.</a:t>
            </a:r>
          </a:p>
        </p:txBody>
      </p:sp>
    </p:spTree>
    <p:extLst>
      <p:ext uri="{BB962C8B-B14F-4D97-AF65-F5344CB8AC3E}">
        <p14:creationId xmlns:p14="http://schemas.microsoft.com/office/powerpoint/2010/main" val="192659589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1D3114-01DF-4B12-82C4-F12BFD86B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3400"/>
            <a:ext cx="1638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F3A5F"/>
                </a:solidFill>
                <a:latin typeface="Arial"/>
                <a:ea typeface="Arial"/>
                <a:cs typeface="Arial"/>
              </a:rPr>
              <a:t>10 · DEPLOYMENT AND RESPONSIBLE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BF6FF6-A01A-4C67-B985-A8E375FA5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285875"/>
            <a:ext cx="16383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defPPr>
            <a:lvl1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1pPr>
            <a:lvl2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2pPr>
            <a:lvl3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3pPr>
            <a:lvl4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4pPr>
            <a:lvl5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5pPr>
            <a:lvl6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6pPr>
            <a:lvl7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7pPr>
            <a:lvl8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8pPr>
            <a:lvl9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3213C"/>
                </a:solidFill>
                <a:latin typeface="Arial"/>
                <a:ea typeface="Arial"/>
                <a:cs typeface="Arial"/>
              </a:rPr>
              <a:t>Independent services and a deliberate review boundary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0FEF0B-304C-4A4C-A928-92870C4F9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9620250"/>
            <a:ext cx="1504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46174"/>
                </a:solidFill>
                <a:latin typeface="Arial"/>
                <a:ea typeface="Arial"/>
                <a:cs typeface="Arial"/>
              </a:rPr>
              <a:t>TraceVerdict · Helios · Open Agent Hackathon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D9A16C-4031-4C07-BAA9-A325D0AE3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960120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F3A5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28A6D9-E162-451F-B88A-4334AD0A695F}"/>
              </a:ext>
            </a:extLst>
          </p:cNvPr>
          <p:cNvGraphicFramePr/>
          <p:nvPr/>
        </p:nvGraphicFramePr>
        <p:xfrm>
          <a:off xmlns:a="http://schemas.openxmlformats.org/drawingml/2006/main" x="914400" y="3333750"/>
          <a:ext xmlns:a="http://schemas.openxmlformats.org/drawingml/2006/main" cx="16459200" cy="5334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229600"/>
                <a:gridCol w="8229600"/>
              </a:tblGrid>
              <a:tr h="1066800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Implemented</a:t>
                      </a:r>
                    </a:p>
                  </a:txBody>
                  <a:tcPr marL="91440" marR="91440" marT="45720" marB="4572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Operating boundary</a:t>
                      </a:r>
                    </a:p>
                  </a:txBody>
                  <a:tcPr marL="91440" marR="91440" marT="45720" marB="45720">
                    <a:solidFill>
                      <a:srgbClr val="1F3A5F"/>
                    </a:solidFill>
                  </a:tcPr>
                </a:tc>
              </a:tr>
              <a:tr h="106680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3213C"/>
                          </a:solidFill>
                          <a:latin typeface="Arial"/>
                          <a:ea typeface="Arial"/>
                          <a:cs typeface="Arial"/>
                        </a:rPr>
                        <a:t>Docker API, web, proxy and three source DBs</a:t>
                      </a:r>
                    </a:p>
                  </a:txBody>
                  <a:tcPr marL="91440" marR="91440" marT="45720" marB="45720"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3213C"/>
                          </a:solidFill>
                          <a:latin typeface="Arial"/>
                          <a:ea typeface="Arial"/>
                          <a:cs typeface="Arial"/>
                        </a:rPr>
                        <a:t>Zetaris separate stack; Nightshift native runtime</a:t>
                      </a:r>
                    </a:p>
                  </a:txBody>
                  <a:tcPr marL="91440" marR="91440" marT="45720" marB="45720">
                    <a:solidFill>
                      <a:srgbClr val="FDFDFB"/>
                    </a:solidFill>
                  </a:tcPr>
                </a:tc>
              </a:tr>
              <a:tr h="106680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3213C"/>
                          </a:solidFill>
                          <a:latin typeface="Arial"/>
                          <a:ea typeface="Arial"/>
                          <a:cs typeface="Arial"/>
                        </a:rPr>
                        <a:t>PostgreSQL CAS, leases and recovery</a:t>
                      </a:r>
                    </a:p>
                  </a:txBody>
                  <a:tcPr marL="91440" marR="91440" marT="45720" marB="4572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3213C"/>
                          </a:solidFill>
                          <a:latin typeface="Arial"/>
                          <a:ea typeface="Arial"/>
                          <a:cs typeface="Arial"/>
                        </a:rPr>
                        <a:t>Two global running workers; 32 active jobs, not measured SLOs</a:t>
                      </a:r>
                    </a:p>
                  </a:txBody>
                  <a:tcPr marL="91440" marR="91440" marT="45720" marB="45720">
                    <a:solidFill>
                      <a:srgbClr val="EEF2F6"/>
                    </a:solidFill>
                  </a:tcPr>
                </a:tc>
              </a:tr>
              <a:tr h="106680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3213C"/>
                          </a:solidFill>
                          <a:latin typeface="Arial"/>
                          <a:ea typeface="Arial"/>
                          <a:cs typeface="Arial"/>
                        </a:rPr>
                        <a:t>HttpOnly sessions, CSRF, tenant and agent scopes</a:t>
                      </a:r>
                    </a:p>
                  </a:txBody>
                  <a:tcPr marL="91440" marR="91440" marT="45720" marB="45720"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3213C"/>
                          </a:solidFill>
                          <a:latin typeface="Arial"/>
                          <a:ea typeface="Arial"/>
                          <a:cs typeface="Arial"/>
                        </a:rPr>
                        <a:t>Reviewer-only intake and hash-bound recommendation approval</a:t>
                      </a:r>
                    </a:p>
                  </a:txBody>
                  <a:tcPr marL="91440" marR="91440" marT="45720" marB="45720">
                    <a:solidFill>
                      <a:srgbClr val="FDFDFB"/>
                    </a:solidFill>
                  </a:tcPr>
                </a:tc>
              </a:tr>
              <a:tr h="106680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3213C"/>
                          </a:solidFill>
                          <a:latin typeface="Arial"/>
                          <a:ea typeface="Arial"/>
                          <a:cs typeface="Arial"/>
                        </a:rPr>
                        <a:t>Explicit live/sample execution and retained failures</a:t>
                      </a:r>
                    </a:p>
                  </a:txBody>
                  <a:tcPr marL="91440" marR="91440" marT="45720" marB="4572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3213C"/>
                          </a:solidFill>
                          <a:latin typeface="Arial"/>
                          <a:ea typeface="Arial"/>
                          <a:cs typeface="Arial"/>
                        </a:rPr>
                        <a:t>No silent sponsor fallback or automatic production deployment</a:t>
                      </a:r>
                    </a:p>
                  </a:txBody>
                  <a:tcPr marL="91440" marR="91440" marT="45720" marB="45720"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561921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40148D-AB6A-4F69-9B91-FB973A558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3400"/>
            <a:ext cx="1638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F3A5F"/>
                </a:solidFill>
                <a:latin typeface="Arial"/>
                <a:ea typeface="Arial"/>
                <a:cs typeface="Arial"/>
              </a:rPr>
              <a:t>11 · FOUNDATION AND 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0C35B3-05E1-4E01-B1C3-65568EEF4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285875"/>
            <a:ext cx="16383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defPPr>
            <a:lvl1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1pPr>
            <a:lvl2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2pPr>
            <a:lvl3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3pPr>
            <a:lvl4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4pPr>
            <a:lvl5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5pPr>
            <a:lvl6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6pPr>
            <a:lvl7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7pPr>
            <a:lvl8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8pPr>
            <a:lvl9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3213C"/>
                </a:solidFill>
                <a:latin typeface="Arial"/>
                <a:ea typeface="Arial"/>
                <a:cs typeface="Arial"/>
              </a:rPr>
              <a:t>Extend the verified workflow before widening execution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30B84C-2BDB-45C9-B7AD-387CB8D94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9620250"/>
            <a:ext cx="1504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46174"/>
                </a:solidFill>
                <a:latin typeface="Arial"/>
                <a:ea typeface="Arial"/>
                <a:cs typeface="Arial"/>
              </a:rPr>
              <a:t>TraceVerdict · Helios · Open Agent Hackathon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A774A6-2DEE-4BDF-9D6E-647DC8B53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960120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F3A5F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3B7570-C2FC-4589-95BE-E0B186C237F9}"/>
              </a:ext>
            </a:extLst>
          </p:cNvPr>
          <p:cNvGraphicFramePr/>
          <p:nvPr/>
        </p:nvGraphicFramePr>
        <p:xfrm>
          <a:off xmlns:a="http://schemas.openxmlformats.org/drawingml/2006/main" x="914400" y="3714750"/>
          <a:ext xmlns:a="http://schemas.openxmlformats.org/drawingml/2006/main" cx="164592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238750"/>
                <a:gridCol w="6191250"/>
                <a:gridCol w="5029200"/>
              </a:tblGrid>
              <a:tr h="1809750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Foundation</a:t>
                      </a:r>
                    </a:p>
                  </a:txBody>
                  <a:tcPr marL="91440" marR="91440" marT="45720" marB="4572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New TraceVerdict work</a:t>
                      </a:r>
                    </a:p>
                  </a:txBody>
                  <a:tcPr marL="91440" marR="91440" marT="45720" marB="4572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Next product milestones</a:t>
                      </a:r>
                    </a:p>
                  </a:txBody>
                  <a:tcPr marL="91440" marR="91440" marT="45720" marB="45720">
                    <a:solidFill>
                      <a:srgbClr val="1F3A5F"/>
                    </a:solidFill>
                  </a:tcPr>
                </a:tc>
              </a:tr>
              <a:tr h="180975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3213C"/>
                          </a:solidFill>
                          <a:latin typeface="Arial"/>
                          <a:ea typeface="Arial"/>
                          <a:cs typeface="Arial"/>
                        </a:rPr>
                        <a:t>Pre-existing IntentSeal guard, compiler, policies, SDK and gateway</a:t>
                      </a:r>
                    </a:p>
                  </a:txBody>
                  <a:tcPr marL="91440" marR="91440" marT="45720" marB="45720"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3213C"/>
                          </a:solidFill>
                          <a:latin typeface="Arial"/>
                          <a:ea typeface="Arial"/>
                          <a:cs typeface="Arial"/>
                        </a:rPr>
                        <a:t>Case workflow, sponsor integration, World Model graph, critic revision and repair validation</a:t>
                      </a:r>
                    </a:p>
                  </a:txBody>
                  <a:tcPr marL="91440" marR="91440" marT="45720" marB="45720"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3213C"/>
                          </a:solidFill>
                          <a:latin typeface="Arial"/>
                          <a:ea typeface="Arial"/>
                          <a:cs typeface="Arial"/>
                        </a:rPr>
                        <a:t>Self-service identity, connectors, SSO, telemetry, retention, capacity SLOs and full disaster recovery</a:t>
                      </a:r>
                    </a:p>
                  </a:txBody>
                  <a:tcPr marL="91440" marR="91440" marT="45720" marB="45720">
                    <a:solidFill>
                      <a:srgbClr val="FDFDFB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127083-505C-49A9-AA2A-D4C6D349D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953375"/>
            <a:ext cx="16192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46174"/>
                </a:solidFill>
                <a:latin typeface="Arial"/>
                <a:ea typeface="Arial"/>
                <a:cs typeface="Arial"/>
              </a:rPr>
              <a:t>Baseline afad26ac673a7adf94a78a0ea94e9c87f0bdc7b1 · docs/NEW_WORK.md</a:t>
            </a:r>
          </a:p>
          <a:p xmlns:a="http://schemas.openxmlformats.org/drawingml/2006/main">
            <a:pPr>
              <a:defRPr sz="217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46174"/>
                </a:solidFill>
                <a:latin typeface="Arial"/>
                <a:ea typeface="Arial"/>
                <a:cs typeface="Arial"/>
              </a:rPr>
              <a:t>Track 2 eligibility for extending prior work remains subject to organizer confirmation.</a:t>
            </a:r>
          </a:p>
        </p:txBody>
      </p:sp>
    </p:spTree>
    <p:extLst>
      <p:ext uri="{BB962C8B-B14F-4D97-AF65-F5344CB8AC3E}">
        <p14:creationId xmlns:p14="http://schemas.microsoft.com/office/powerpoint/2010/main" val="83499590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C03BDC-1FEE-4D73-BFFC-E01A3123F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3400"/>
            <a:ext cx="1638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F3A5F"/>
                </a:solidFill>
                <a:latin typeface="Arial"/>
                <a:ea typeface="Arial"/>
                <a:cs typeface="Arial"/>
              </a:rPr>
              <a:t>12 · TRY TRACEVERDICT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13A373-8C3D-4D0D-8770-1554134CE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285875"/>
            <a:ext cx="16383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defPPr>
            <a:lvl1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1pPr>
            <a:lvl2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2pPr>
            <a:lvl3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3pPr>
            <a:lvl4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4pPr>
            <a:lvl5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5pPr>
            <a:lvl6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6pPr>
            <a:lvl7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7pPr>
            <a:lvl8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8pPr>
            <a:lvl9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3213C"/>
                </a:solidFill>
                <a:latin typeface="Arial"/>
                <a:ea typeface="Arial"/>
                <a:cs typeface="Arial"/>
              </a:rPr>
              <a:t>Understand what happened.</a:t>
            </a:r>
          </a:p>
          <a:p xmlns:a="http://schemas.openxmlformats.org/drawingml/2006/main">
            <a: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3213C"/>
                </a:solidFill>
                <a:latin typeface="Arial"/>
                <a:ea typeface="Arial"/>
                <a:cs typeface="Arial"/>
              </a:rPr>
              <a:t>Evaluate what should change.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872D0F-5EDC-454B-A031-11AC805A8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9620250"/>
            <a:ext cx="1504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461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46174"/>
                </a:solidFill>
                <a:latin typeface="Arial"/>
                <a:ea typeface="Arial"/>
                <a:cs typeface="Arial"/>
              </a:rPr>
              <a:t>TraceVerdict · Helios · Open Agent Hackathon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487015-54DD-4944-A6CF-8E495B476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960120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F3A5F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C1616C-CC19-4DEA-9142-5D78BC2A7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57625"/>
            <a:ext cx="1619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defPPr>
            <a:lvl1pPr>
              <a:defRPr sz="292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1pPr>
            <a:lvl2pPr>
              <a:defRPr sz="292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2pPr>
            <a:lvl3pPr>
              <a:defRPr sz="292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3pPr>
            <a:lvl4pPr>
              <a:defRPr sz="292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4pPr>
            <a:lvl5pPr>
              <a:defRPr sz="292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5pPr>
            <a:lvl6pPr>
              <a:defRPr sz="292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6pPr>
            <a:lvl7pPr>
              <a:defRPr sz="292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7pPr>
            <a:lvl8pPr>
              <a:defRPr sz="292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8pPr>
            <a:lvl9pPr>
              <a:defRPr sz="292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3A5F"/>
                </a:solidFill>
                <a:latin typeface="Arial"/>
                <a:ea typeface="Arial"/>
                <a:cs typeface="Arial"/>
              </a:rPr>
              <a:t>CODE + RECEIPTS</a:t>
            </a:r>
          </a:p>
          <a:p xmlns:a="http://schemas.openxmlformats.org/drawingml/2006/main">
            <a:pPr>
              <a:defRPr sz="292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3A5F"/>
                </a:solidFill>
                <a:latin typeface="Arial"/>
                <a:ea typeface="Arial"/>
                <a:cs typeface="Arial"/>
              </a:rPr>
              <a:t>github.com/sankalp2515/TraceVerdict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BAD33B-2A5E-46D5-B1BA-4CF5B7729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19750"/>
            <a:ext cx="15716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0">
                <a:solidFill>
                  <a:srgbClr val="13213C"/>
                </a:solidFill>
                <a:latin typeface="Arial"/>
                <a:ea typeface="Arial"/>
                <a:cs typeface="Arial"/>
              </a:defRPr>
            </a:defPPr>
            <a:lvl1pPr>
              <a:defRPr sz="2850" b="0">
                <a:solidFill>
                  <a:srgbClr val="13213C"/>
                </a:solidFill>
                <a:latin typeface="Arial"/>
                <a:ea typeface="Arial"/>
                <a:cs typeface="Arial"/>
              </a:defRPr>
            </a:lvl1pPr>
            <a:lvl2pPr>
              <a:defRPr sz="2850" b="0">
                <a:solidFill>
                  <a:srgbClr val="13213C"/>
                </a:solidFill>
                <a:latin typeface="Arial"/>
                <a:ea typeface="Arial"/>
                <a:cs typeface="Arial"/>
              </a:defRPr>
            </a:lvl2pPr>
            <a:lvl3pPr>
              <a:defRPr sz="2850" b="0">
                <a:solidFill>
                  <a:srgbClr val="13213C"/>
                </a:solidFill>
                <a:latin typeface="Arial"/>
                <a:ea typeface="Arial"/>
                <a:cs typeface="Arial"/>
              </a:defRPr>
            </a:lvl3pPr>
            <a:lvl4pPr>
              <a:defRPr sz="2850" b="0">
                <a:solidFill>
                  <a:srgbClr val="13213C"/>
                </a:solidFill>
                <a:latin typeface="Arial"/>
                <a:ea typeface="Arial"/>
                <a:cs typeface="Arial"/>
              </a:defRPr>
            </a:lvl4pPr>
            <a:lvl5pPr>
              <a:defRPr sz="2850" b="0">
                <a:solidFill>
                  <a:srgbClr val="13213C"/>
                </a:solidFill>
                <a:latin typeface="Arial"/>
                <a:ea typeface="Arial"/>
                <a:cs typeface="Arial"/>
              </a:defRPr>
            </a:lvl5pPr>
            <a:lvl6pPr>
              <a:defRPr sz="2850" b="0">
                <a:solidFill>
                  <a:srgbClr val="13213C"/>
                </a:solidFill>
                <a:latin typeface="Arial"/>
                <a:ea typeface="Arial"/>
                <a:cs typeface="Arial"/>
              </a:defRPr>
            </a:lvl6pPr>
            <a:lvl7pPr>
              <a:defRPr sz="2850" b="0">
                <a:solidFill>
                  <a:srgbClr val="13213C"/>
                </a:solidFill>
                <a:latin typeface="Arial"/>
                <a:ea typeface="Arial"/>
                <a:cs typeface="Arial"/>
              </a:defRPr>
            </a:lvl7pPr>
            <a:lvl8pPr>
              <a:defRPr sz="2850" b="0">
                <a:solidFill>
                  <a:srgbClr val="13213C"/>
                </a:solidFill>
                <a:latin typeface="Arial"/>
                <a:ea typeface="Arial"/>
                <a:cs typeface="Arial"/>
              </a:defRPr>
            </a:lvl8pPr>
            <a:lvl9pPr>
              <a:defRPr sz="2850" b="0">
                <a:solidFill>
                  <a:srgbClr val="1321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13213C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13213C"/>
                </a:solidFill>
                <a:latin typeface="Arial"/>
                <a:ea typeface="Arial"/>
                <a:cs typeface="Arial"/>
              </a:rPr>
              <a:t>LOCAL PRODUCT</a:t>
            </a:r>
          </a:p>
          <a:p xmlns:a="http://schemas.openxmlformats.org/drawingml/2006/main">
            <a:pPr>
              <a:defRPr sz="2850" b="0">
                <a:solidFill>
                  <a:srgbClr val="13213C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13213C"/>
                </a:solidFill>
                <a:latin typeface="Arial"/>
                <a:ea typeface="Arial"/>
                <a:cs typeface="Arial"/>
              </a:rPr>
              <a:t>Start the Docker stack, open localhost:5173, then try a sample or import an original incident capture.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C70788-2F92-4D71-BE5E-D3E2B14EE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715250"/>
            <a:ext cx="16097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F3A5F"/>
                </a:solidFill>
                <a:latin typeface="Arial"/>
                <a:ea typeface="Arial"/>
                <a:cs typeface="Arial"/>
              </a:rPr>
              <a:t>A graph you can inspect. A repair you can test.</a:t>
            </a:r>
          </a:p>
          <a:p xmlns:a="http://schemas.openxmlformats.org/drawingml/2006/main">
            <a:pPr>
              <a:defRPr sz="34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F3A5F"/>
                </a:solidFill>
                <a:latin typeface="Arial"/>
                <a:ea typeface="Arial"/>
                <a:cs typeface="Arial"/>
              </a:rPr>
              <a:t>A recommendation a person can review.</a:t>
            </a:r>
          </a:p>
        </p:txBody>
      </p:sp>
    </p:spTree>
    <p:extLst>
      <p:ext uri="{BB962C8B-B14F-4D97-AF65-F5344CB8AC3E}">
        <p14:creationId xmlns:p14="http://schemas.microsoft.com/office/powerpoint/2010/main" val="4695437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2026-10-27T20:25:45.6730000Z</dcterms:created>
  <dcterms:modified xsi:type="dcterms:W3CDTF">2026-10-27T20:25:45.6760000Z</dcterms:modified>
</coreProperties>
</file>