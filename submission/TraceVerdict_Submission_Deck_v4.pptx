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126d961a634e0a" /><Relationship Type="http://schemas.openxmlformats.org/officeDocument/2006/relationships/extended-properties" Target="/docProps/app.xml" Id="Rb59b09df94ac42f5" /><Relationship Type="http://schemas.openxmlformats.org/officeDocument/2006/relationships/officeDocument" Target="/ppt/presentation.xml" Id="Re3aeb9fae81746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3da4682c434ad0"/>
  </p:sldMasterIdLst>
  <p:notesMasterIdLst>
    <p:notesMasterId xmlns:r="http://schemas.openxmlformats.org/officeDocument/2006/relationships" r:id="R0ec0817b4a0442b2"/>
  </p:notesMasterIdLst>
  <p:sldIdLst>
    <p:sldId xmlns:r="http://schemas.openxmlformats.org/officeDocument/2006/relationships" id="256" r:id="R5baa2e74a6bc40b9"/>
    <p:sldId xmlns:r="http://schemas.openxmlformats.org/officeDocument/2006/relationships" id="257" r:id="R634a90844f69461b"/>
    <p:sldId xmlns:r="http://schemas.openxmlformats.org/officeDocument/2006/relationships" id="258" r:id="Rb18f8f1ba114402e"/>
    <p:sldId xmlns:r="http://schemas.openxmlformats.org/officeDocument/2006/relationships" id="259" r:id="Refcd48762b7a41d0"/>
    <p:sldId xmlns:r="http://schemas.openxmlformats.org/officeDocument/2006/relationships" id="260" r:id="R4fcb95a905724b48"/>
    <p:sldId xmlns:r="http://schemas.openxmlformats.org/officeDocument/2006/relationships" id="261" r:id="R1119eb019df24bf8"/>
    <p:sldId xmlns:r="http://schemas.openxmlformats.org/officeDocument/2006/relationships" id="262" r:id="R896124bd95ed4af4"/>
    <p:sldId xmlns:r="http://schemas.openxmlformats.org/officeDocument/2006/relationships" id="263" r:id="R259f4284982e4010"/>
    <p:sldId xmlns:r="http://schemas.openxmlformats.org/officeDocument/2006/relationships" id="264" r:id="R0280b6eed2e94101"/>
    <p:sldId xmlns:r="http://schemas.openxmlformats.org/officeDocument/2006/relationships" id="265" r:id="Rea941a11d6dd4ff8"/>
    <p:sldId xmlns:r="http://schemas.openxmlformats.org/officeDocument/2006/relationships" id="266" r:id="R81eed66d481a4281"/>
    <p:sldId xmlns:r="http://schemas.openxmlformats.org/officeDocument/2006/relationships" id="267" r:id="R41cfbcdf8de047c4"/>
    <p:sldId xmlns:r="http://schemas.openxmlformats.org/officeDocument/2006/relationships" id="268" r:id="R6961ebc20e3c4c6e"/>
    <p:sldId xmlns:r="http://schemas.openxmlformats.org/officeDocument/2006/relationships" id="269" r:id="Rf5fcad91df69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036e3921f74ba8" /><Relationship Type="http://schemas.openxmlformats.org/officeDocument/2006/relationships/slideMaster" Target="/ppt/slideMasters/slideMaster1.xml" Id="R7d3da4682c434ad0" /><Relationship Type="http://schemas.openxmlformats.org/officeDocument/2006/relationships/notesMaster" Target="/ppt/notesMasters/notesMaster1.xml" Id="R0ec0817b4a0442b2" /><Relationship Type="http://schemas.openxmlformats.org/officeDocument/2006/relationships/presProps" Target="/ppt/presProps.xml" Id="R83dd396305404ce9" /><Relationship Type="http://schemas.openxmlformats.org/officeDocument/2006/relationships/tableStyles" Target="/ppt/tableStyles.xml" Id="R148ecd6e3a5d49d1" /><Relationship Type="http://schemas.openxmlformats.org/officeDocument/2006/relationships/slide" Target="/ppt/slides/slide1.xml" Id="R5baa2e74a6bc40b9" /><Relationship Type="http://schemas.openxmlformats.org/officeDocument/2006/relationships/slide" Target="/ppt/slides/slide2.xml" Id="R634a90844f69461b" /><Relationship Type="http://schemas.openxmlformats.org/officeDocument/2006/relationships/slide" Target="/ppt/slides/slide3.xml" Id="Rb18f8f1ba114402e" /><Relationship Type="http://schemas.openxmlformats.org/officeDocument/2006/relationships/slide" Target="/ppt/slides/slide4.xml" Id="Refcd48762b7a41d0" /><Relationship Type="http://schemas.openxmlformats.org/officeDocument/2006/relationships/slide" Target="/ppt/slides/slide5.xml" Id="R4fcb95a905724b48" /><Relationship Type="http://schemas.openxmlformats.org/officeDocument/2006/relationships/slide" Target="/ppt/slides/slide6.xml" Id="R1119eb019df24bf8" /><Relationship Type="http://schemas.openxmlformats.org/officeDocument/2006/relationships/slide" Target="/ppt/slides/slide7.xml" Id="R896124bd95ed4af4" /><Relationship Type="http://schemas.openxmlformats.org/officeDocument/2006/relationships/slide" Target="/ppt/slides/slide8.xml" Id="R259f4284982e4010" /><Relationship Type="http://schemas.openxmlformats.org/officeDocument/2006/relationships/slide" Target="/ppt/slides/slide9.xml" Id="R0280b6eed2e94101" /><Relationship Type="http://schemas.openxmlformats.org/officeDocument/2006/relationships/slide" Target="/ppt/slides/slide10.xml" Id="Rea941a11d6dd4ff8" /><Relationship Type="http://schemas.openxmlformats.org/officeDocument/2006/relationships/slide" Target="/ppt/slides/slide11.xml" Id="R81eed66d481a4281" /><Relationship Type="http://schemas.openxmlformats.org/officeDocument/2006/relationships/slide" Target="/ppt/slides/slide12.xml" Id="R41cfbcdf8de047c4" /><Relationship Type="http://schemas.openxmlformats.org/officeDocument/2006/relationships/slide" Target="/ppt/slides/slide13.xml" Id="R6961ebc20e3c4c6e" /><Relationship Type="http://schemas.openxmlformats.org/officeDocument/2006/relationships/slide" Target="/ppt/slides/slide14.xml" Id="Rf5fcad91df69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b672fc162f48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5282185f0e43fa" /><Relationship Type="http://schemas.openxmlformats.org/officeDocument/2006/relationships/notesMaster" Target="/ppt/notesMasters/notesMaster1.xml" Id="R78c5dd1bed8849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484f2bc1a4401d" /><Relationship Type="http://schemas.openxmlformats.org/officeDocument/2006/relationships/notesMaster" Target="/ppt/notesMasters/notesMaster1.xml" Id="Rad0b225d21bf43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898359fc8046c7" /><Relationship Type="http://schemas.openxmlformats.org/officeDocument/2006/relationships/notesMaster" Target="/ppt/notesMasters/notesMaster1.xml" Id="Re0bd98bb1025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9e7ee7a50c46b3" /><Relationship Type="http://schemas.openxmlformats.org/officeDocument/2006/relationships/notesMaster" Target="/ppt/notesMasters/notesMaster1.xml" Id="R813538c136db44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05c818b1c341b4" /><Relationship Type="http://schemas.openxmlformats.org/officeDocument/2006/relationships/notesMaster" Target="/ppt/notesMasters/notesMaster1.xml" Id="R1fee714d2f314c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d6f1e8784b4f46" /><Relationship Type="http://schemas.openxmlformats.org/officeDocument/2006/relationships/notesMaster" Target="/ppt/notesMasters/notesMaster1.xml" Id="R9d7a2a6c5e0f40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51f0b04aac4a44" /><Relationship Type="http://schemas.openxmlformats.org/officeDocument/2006/relationships/notesMaster" Target="/ppt/notesMasters/notesMaster1.xml" Id="R3bc64d5fa7b84d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366419e63743c6" /><Relationship Type="http://schemas.openxmlformats.org/officeDocument/2006/relationships/notesMaster" Target="/ppt/notesMasters/notesMaster1.xml" Id="Rfb48ca2828c941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8cf83147304c2d" /><Relationship Type="http://schemas.openxmlformats.org/officeDocument/2006/relationships/notesMaster" Target="/ppt/notesMasters/notesMaster1.xml" Id="R70805c59692545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d84aad0d214392" /><Relationship Type="http://schemas.openxmlformats.org/officeDocument/2006/relationships/notesMaster" Target="/ppt/notesMasters/notesMaster1.xml" Id="R28e1662c7c6f45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9c65aa93de4b1f" /><Relationship Type="http://schemas.openxmlformats.org/officeDocument/2006/relationships/notesMaster" Target="/ppt/notesMasters/notesMaster1.xml" Id="Rd0d57cd6c3bc40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0fe9337153497b" /><Relationship Type="http://schemas.openxmlformats.org/officeDocument/2006/relationships/notesMaster" Target="/ppt/notesMasters/notesMaster1.xml" Id="R0195e68af0c244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a12f35a1dd4523" /><Relationship Type="http://schemas.openxmlformats.org/officeDocument/2006/relationships/notesMaster" Target="/ppt/notesMasters/notesMaster1.xml" Id="R94042afd87de42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0a7489e20c4736" /><Relationship Type="http://schemas.openxmlformats.org/officeDocument/2006/relationships/notesMaster" Target="/ppt/notesMasters/notesMaster1.xml" Id="R816de80ff325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TraceVerdict extends the teamâ€™s existing IntentSeal foundation. This deck describes the verified backend MVP. Final frontend demo and public submission links are separate release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 Worker-process termination and database connection fault tests passed. Limits are configured bounds, not measured throughput SLOs. Source backups do not cover whole-platform disaster recovery.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examples/traceverdict/live/report.json, live/case.json, zetaris/native-usl.json; docs/RELEASE_VERIFICATION.md. Synthetic incident, real sponsor calls, local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commit afad26ac673a7adf94a78a0ea94e9c87f0bdc7b1. See docs/NEW_WORK.md. Team ownership does not remove the pre-existing-work declaration requirement. Track eligibility is subject to organizer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examples/traceverdict/nemotron-evaluation.json. 48 trials total. All outcomes retained. Synthetic tasks, real returned NVIDIA models through Nightshift. Small development evaluation, not an untouched benchmark or broad robustness proof. Both routes resisted the unsafe trials.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apps/web/output/playwright/graph-desktop.png, prior frontend QA capture. Recorded synthetic case, not a fresh live sponsor execution. New customer-intake controls were added after this screenshot and are not pictured. Screenshot framing focuses on the evidence graph; no credential data is present.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3f2627d9440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a5761a97d4c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ee9bce35745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eb6ce33354c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e966bad0d4a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d2ddd7df343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6932D1-1E47-46CF-94EF-EC7D5C4AB5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920642-E410-4864-B947-DA9144DC56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00300C-5FA0-4ACC-98C8-63E04BFF1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DA9FC3-5E20-49F5-A922-71446E72E2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1B2CAC-E4C4-47B6-AD43-09B11B1711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6B7A9D-2A02-4CB9-8A4E-4D94FBA33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7E40B3-F948-4677-B18B-9201482782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3A284E9-9450-43D4-9F81-4C0FCA61AC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92B03-FFA9-4160-A914-AA81230C3A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161DD3-ECF9-4A70-9B6A-341B7E662E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5ef1535bd432d" /><Relationship Type="http://schemas.openxmlformats.org/officeDocument/2006/relationships/slideLayout" Target="/ppt/slideLayouts/slideLayout1.xml" Id="Rb54852f1ee634158" /><Relationship Type="http://schemas.openxmlformats.org/officeDocument/2006/relationships/slideLayout" Target="/ppt/slideLayouts/slideLayout2.xml" Id="Rd59d6ba2bb664cfe" /><Relationship Type="http://schemas.openxmlformats.org/officeDocument/2006/relationships/slideLayout" Target="/ppt/slideLayouts/slideLayout3.xml" Id="Rc329482e42cf43da" /><Relationship Type="http://schemas.openxmlformats.org/officeDocument/2006/relationships/slideLayout" Target="/ppt/slideLayouts/slideLayout4.xml" Id="Rf81f154b3eb644b8" /><Relationship Type="http://schemas.openxmlformats.org/officeDocument/2006/relationships/slideLayout" Target="/ppt/slideLayouts/slideLayout5.xml" Id="Raa6da985aa4740d1" /><Relationship Type="http://schemas.openxmlformats.org/officeDocument/2006/relationships/slideLayout" Target="/ppt/slideLayouts/slideLayout6.xml" Id="R4f58c2a719fa4b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4852f1ee634158"/>
    <p:sldLayoutId xmlns:r="http://schemas.openxmlformats.org/officeDocument/2006/relationships" id="2147483650" r:id="Rd59d6ba2bb664cfe"/>
    <p:sldLayoutId xmlns:r="http://schemas.openxmlformats.org/officeDocument/2006/relationships" id="2147483651" r:id="Rc329482e42cf43da"/>
    <p:sldLayoutId xmlns:r="http://schemas.openxmlformats.org/officeDocument/2006/relationships" id="2147483652" r:id="Rf81f154b3eb644b8"/>
    <p:sldLayoutId xmlns:r="http://schemas.openxmlformats.org/officeDocument/2006/relationships" id="2147483653" r:id="Raa6da985aa4740d1"/>
    <p:sldLayoutId xmlns:r="http://schemas.openxmlformats.org/officeDocument/2006/relationships" id="2147483654" r:id="R4f58c2a719fa4b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e060cae7249d1" /><Relationship Type="http://schemas.openxmlformats.org/officeDocument/2006/relationships/notesSlide" Target="/ppt/notesSlides/notesSlide1.xml" Id="R38f65614bcb241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9e130afae40fb" /><Relationship Type="http://schemas.openxmlformats.org/officeDocument/2006/relationships/notesSlide" Target="/ppt/notesSlides/notesSlide2.xml" Id="Re1c4c31e96bd4e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5a2d9c57740f8" /><Relationship Type="http://schemas.openxmlformats.org/officeDocument/2006/relationships/notesSlide" Target="/ppt/notesSlides/notesSlide3.xml" Id="Rcda892f2dfc640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41f45108e4a43" /><Relationship Type="http://schemas.openxmlformats.org/officeDocument/2006/relationships/notesSlide" Target="/ppt/notesSlides/notesSlide4.xml" Id="R75af851c15354d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538359d774be3" /><Relationship Type="http://schemas.openxmlformats.org/officeDocument/2006/relationships/notesSlide" Target="/ppt/notesSlides/notesSlide5.xml" Id="Re91b975c45c749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a72ab95af04318" /><Relationship Type="http://schemas.openxmlformats.org/officeDocument/2006/relationships/notesSlide" Target="/ppt/notesSlides/notesSlide6.xml" Id="Rc437b6439b2146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3f95f29994623" /><Relationship Type="http://schemas.openxmlformats.org/officeDocument/2006/relationships/notesSlide" Target="/ppt/notesSlides/notesSlide7.xml" Id="R5de911dc28f949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379598da54007" /><Relationship Type="http://schemas.openxmlformats.org/officeDocument/2006/relationships/notesSlide" Target="/ppt/notesSlides/notesSlide8.xml" Id="R13dcd7663d454e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e61cf23e24adb" /><Relationship Type="http://schemas.openxmlformats.org/officeDocument/2006/relationships/notesSlide" Target="/ppt/notesSlides/notesSlide9.xml" Id="R938d5de29b8e46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c724c669e4406" /><Relationship Type="http://schemas.openxmlformats.org/officeDocument/2006/relationships/notesSlide" Target="/ppt/notesSlides/notesSlide10.xml" Id="Rb794df4762cb4a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da920aab547c1" /><Relationship Type="http://schemas.openxmlformats.org/officeDocument/2006/relationships/notesSlide" Target="/ppt/notesSlides/notesSlide11.xml" Id="Rbe8629d86a6747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ee22b68b544ba" /><Relationship Type="http://schemas.openxmlformats.org/officeDocument/2006/relationships/notesSlide" Target="/ppt/notesSlides/notesSlide12.xml" Id="Rd778f52a61d946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a9800890a4b18" /><Relationship Type="http://schemas.openxmlformats.org/officeDocument/2006/relationships/notesSlide" Target="/ppt/notesSlides/notesSlide13.xml" Id="R043d788ee9974a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d53e067ed4b50" /><Relationship Type="http://schemas.openxmlformats.org/officeDocument/2006/relationships/image" Target="/ppt/media/image.png" Id="R999d9503af4f476a" /><Relationship Type="http://schemas.openxmlformats.org/officeDocument/2006/relationships/notesSlide" Target="/ppt/notesSlides/notesSlide14.xml" Id="R2c9fd632dec34d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9CEA7-6CCD-4467-8FA5-3243535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TraceVerdict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DD655-BF25-4767-B53D-8B7F39C5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Explain unauthorized agent actions.</a:t>
            </a:r>
          </a:p>
          <a:p xmlns:a="http://schemas.openxmlformats.org/drawingml/2006/main">
            <a:pPr>
              <a:defRPr sz="40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Test a repair before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362EF-EEA3-4075-BD18-747F0B63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87F68"/>
                </a:solidFill>
                <a:latin typeface="Calibri"/>
                <a:ea typeface="Calibri"/>
                <a:cs typeface="Calibri"/>
              </a:rPr>
              <a:t>Helios</a:t>
            </a:r>
          </a:p>
          <a:p xmlns:a="http://schemas.openxmlformats.org/drawingml/2006/main">
            <a:pPr>
              <a:defRPr sz="1950" b="0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87F68"/>
                </a:solidFill>
                <a:latin typeface="Calibri"/>
                <a:ea typeface="Calibri"/>
                <a:cs typeface="Calibri"/>
              </a:rPr>
              <a:t>Track 2: The Agent That Can Explain Why</a:t>
            </a:r>
          </a:p>
        </p:txBody>
      </p:sp>
    </p:spTree>
    <p:extLst>
      <p:ext uri="{BB962C8B-B14F-4D97-AF65-F5344CB8AC3E}">
        <p14:creationId xmlns:p14="http://schemas.microsoft.com/office/powerpoint/2010/main" val="603961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5B698-F54F-4658-AC3A-7149BB6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The investigation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E9DC9-6E01-4DB3-944D-91043B59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For teams operating agents that read untrusted documents and invoke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7661F-ABB8-4165-8689-7CF7AC4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A trace shows what the agent said.</a:t>
            </a:r>
          </a:p>
          <a:p xmlns:a="http://schemas.openxmlformats.org/drawingml/2006/main">
            <a:pPr>
              <a:defRPr sz="28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An incident review must establish what actually ran.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9A097-AECA-4D6D-8B32-5B0687A1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Reviewers need the original task, historical policy and application receipt together. A repair also needs evidence that authorized work still succeeds.</a:t>
            </a:r>
          </a:p>
        </p:txBody>
      </p:sp>
    </p:spTree>
    <p:extLst>
      <p:ext uri="{BB962C8B-B14F-4D97-AF65-F5344CB8AC3E}">
        <p14:creationId xmlns:p14="http://schemas.microsoft.com/office/powerpoint/2010/main" val="1305364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6FED0-1DF6-402F-A12C-734FDAB5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The supplier-contact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40C56-D3A1-4971-B6A1-0AC14514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Synthetic incident with a deliberately permissive historical sandbox policy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14803-FFAF-469C-9540-ADA06EE46DAC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Record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Observed evidence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User task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Summarize the supplier report. Do not contact anyone.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Untrusted document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Instruction to send the record to audit@local.test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Action and receipt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Attempted send and matching local execution receipt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Historical configuration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Intent contract enforcement was off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51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5AB17-D28C-4E18-B7ED-C27FD06E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Investigation workflow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2D8D3-9ACB-4F01-AFFD-E202A919DA9A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733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Reviewable output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Collect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Source versions, content hashes and query receipts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Explain and critique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Cited claims, accepted or disputed, with uncertainty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Propose repair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Bounded policy paths and exact before/after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Replay and review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Safety, legitimate utility and hash-bound export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9316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8726C-E0AD-4755-863B-2B04653C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2A05C-569C-4F6E-8A0F-C301D602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The graph connects source evidence to claims and repair rationale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01D35-BCC5-4FCA-88EE-DC0646AB2521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Implementation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Evidence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Zetaris native USL over three PostgreSQL 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Evidence graph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Python Meterless World Model Engine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Reasoning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Investigator, critic and repair planner through Nightshift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Existing IntentSeal action guard and local replay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Review boundary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Authenticated reviewer approval and recommendation export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332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F57AE-F03D-4BFC-834F-356B65C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Evidence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0A8AB-81C7-465C-B281-2824711F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Each explanation stays connected to the records a reviewer can inspect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E0253-11DA-40A2-B0D5-EDF856AD17E0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53415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Relationship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Document and task context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What the user authorized and what the agent read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Action linked to receipt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Whether the application reports actual execution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Evidence supports claim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Which source IDs support the explanation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Accepted claim supports repair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Why the bounded change is proposed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B4177-05AD-4B8B-9625-C99B30B8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Relationships support investigation. They do not independently prove causation.</a:t>
            </a:r>
          </a:p>
        </p:txBody>
      </p:sp>
    </p:spTree>
    <p:extLst>
      <p:ext uri="{BB962C8B-B14F-4D97-AF65-F5344CB8AC3E}">
        <p14:creationId xmlns:p14="http://schemas.microsoft.com/office/powerpoint/2010/main" val="241286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3E6D4-F827-4E32-AEAA-AAD60F7F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Sponsor technologies in the working path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D3637-BA63-4C9E-992C-B979607A7184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43400"/>
                <a:gridCol w="409575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Technology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Implemented feature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Retained evidence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Zetaris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Native USL and data-quality rule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63 valid records, zero invalid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Meterless Engine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World Model evidence graph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8/8 upstream conformance checks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Nightshift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Primary inference runtime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Actual request/response receipts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NVIDIA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Lightning reasoning, Ultra replay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Returned model IDs in live receipts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479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AB328-34A9-43F1-9EF9-59E4FCA3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Repair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ADE66-A554-4036-9A75-BEFAB868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The gate rejects a repair that interrupts authorized work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ACFAF-00E7-4B2F-BFF3-429B7420A5BC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9950"/>
                <a:gridCol w="2476500"/>
                <a:gridCol w="2476500"/>
                <a:gridCol w="2457450"/>
              </a:tblGrid>
              <a:tr h="746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Fixed-action tasks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Live utility tasks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Model proposal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20 / 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8 /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Awaiting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Disruptive API control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18 / 20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6 / 8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Rejected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A2E13-BC6D-41CD-9016-8264C92F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Both model-driven baselines resisted all 12 unsafe prompts. Fixed-action replay provides the evidence of policy enforcement.</a:t>
            </a:r>
          </a:p>
        </p:txBody>
      </p:sp>
    </p:spTree>
    <p:extLst>
      <p:ext uri="{BB962C8B-B14F-4D97-AF65-F5344CB8AC3E}">
        <p14:creationId xmlns:p14="http://schemas.microsoft.com/office/powerpoint/2010/main" val="2121008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AE4DA-C55B-46C4-A8A5-027FF229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Actual recommendation artifact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88479-4D82-4138-BF28-EC4DA6D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A passing result preserves its exact review inputs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8A7DD-B0EB-40CD-BAD9-C85D6912A678}"/>
              </a:ext>
            </a:extLst>
          </p:cNvPr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476500"/>
                <a:gridCol w="4057650"/>
              </a:tblGrid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Policy path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Before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After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contract.mode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"off"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"enforce"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contract.out_of_scope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"escalate"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"block"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tools.send_message.allowed_recipients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review@local.test, ops@local.test, disabled@local.test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99606-29FB-4896-A106-EB4C01F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F68"/>
                </a:solidFill>
                <a:latin typeface="Calibri"/>
                <a:ea typeface="Calibri"/>
                <a:cs typeface="Calibri"/>
              </a:rPr>
              <a:t>Status: AWAITING_REVIEW</a:t>
            </a:r>
          </a:p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87F68"/>
                </a:solidFill>
                <a:latin typeface="Calibri"/>
                <a:ea typeface="Calibri"/>
                <a:cs typeface="Calibri"/>
              </a:rPr>
              <a:t>Approval exports this recommendation. No production policy has changed.</a:t>
            </a:r>
          </a:p>
        </p:txBody>
      </p:sp>
    </p:spTree>
    <p:extLst>
      <p:ext uri="{BB962C8B-B14F-4D97-AF65-F5344CB8AC3E}">
        <p14:creationId xmlns:p14="http://schemas.microsoft.com/office/powerpoint/2010/main" val="1393154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5B66A-4C60-4655-BA1F-1FDA055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Production-oriented 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6D387-DD51-4F72-A71A-05AB89B1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A bounded deployment with explicit recovery and review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75B5C-D1C1-4CA4-9515-43B8685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Durable PostgreSQL state with CAS, leases and indexed job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Two global running workers and 32 active jobs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HttpOnly sessions, CSRF checks and tenant/agent scoping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Fresh Linux image and isolated source-database restore checks</a:t>
            </a:r>
          </a:p>
        </p:txBody>
      </p:sp>
    </p:spTree>
    <p:extLst>
      <p:ext uri="{BB962C8B-B14F-4D97-AF65-F5344CB8AC3E}">
        <p14:creationId xmlns:p14="http://schemas.microsoft.com/office/powerpoint/2010/main" val="526518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F56E5-71D9-4635-8B25-0C200C4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Next product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3EE78-D371-46FD-9F2D-229EA75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668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Self-service account and connector provisioning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HTTPS deployment with protected platform networking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Broader independent attack and utility benchmarks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Operational metrics, retention and full disaster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09E01-BB15-43B8-ADEE-07529DC9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Current tools execute only in a local outbox and deterministic artifact reader.</a:t>
            </a:r>
          </a:p>
        </p:txBody>
      </p:sp>
    </p:spTree>
    <p:extLst>
      <p:ext uri="{BB962C8B-B14F-4D97-AF65-F5344CB8AC3E}">
        <p14:creationId xmlns:p14="http://schemas.microsoft.com/office/powerpoint/2010/main" val="4704308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B0F4F-6452-4F30-9FE8-87F28D3A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Foundation and new work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D07FD-D388-4A35-BA52-3D6F4E22D96B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Pre-existing IntentSeal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New TraceVerdict work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Action guard and intent compiler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Case investigation and critic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Policy models, SDK and gateway foundation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Native Zetaris and Nightshift integration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Existing enforcement runtime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World Model graph and immutable captures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evaluation tooling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Repair gate, review/export and release evidence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4956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0B32A-74F5-4BC9-AC1E-2C71F746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Nemotron role allocation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5A496-96CE-4C70-BA90-D3024B09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Measured task routing through the same Nightshift runtime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B6C2-35DE-4DDF-BC3A-63A714734E99}"/>
              </a:ext>
            </a:extLst>
          </p:cNvPr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08204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667000"/>
                <a:gridCol w="2667000"/>
                <a:gridCol w="2343150"/>
              </a:tblGrid>
              <a:tr h="730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Route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Utility tasks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Unsafe trials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Call p50</a:t>
                      </a:r>
                    </a:p>
                  </a:txBody>
                  <a:tcPr marL="91440" marR="91440" marT="45720" marB="45720">
                    <a:solidFill>
                      <a:srgbClr val="152B34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Lightning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15 / 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6 resisted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678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Ultra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18 / 18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6 resisted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34"/>
                          </a:solidFill>
                          <a:latin typeface="Calibri"/>
                          <a:ea typeface="Calibri"/>
                          <a:cs typeface="Calibri"/>
                        </a:rPr>
                        <a:t>2150 ms</a:t>
                      </a:r>
                    </a:p>
                  </a:txBody>
                  <a:tcPr marL="91440" marR="91440" marT="45720" marB="45720"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EF7C2-BBC9-4D56-BEAC-B2611D4F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Same 12 development tasks, repeated twice per route. Ultra is the explicit replay route. Lightning handles investigation and planning.</a:t>
            </a:r>
          </a:p>
        </p:txBody>
      </p:sp>
    </p:spTree>
    <p:extLst>
      <p:ext uri="{BB962C8B-B14F-4D97-AF65-F5344CB8AC3E}">
        <p14:creationId xmlns:p14="http://schemas.microsoft.com/office/powerpoint/2010/main" val="13792521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892E6-B317-408B-93A4-61F14734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Product evidence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D30F9-4F57-4C30-83E2-D914B3E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6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66D"/>
                </a:solidFill>
                <a:latin typeface="Calibri"/>
                <a:ea typeface="Calibri"/>
                <a:cs typeface="Calibri"/>
              </a:rPr>
              <a:t>Actual frontend screenshot of the recorded synthetic case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55866-FDC1-4ED9-9A7B-023BFFB3D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d9503af4f476a"/>
          <a:srcRect xmlns:a="http://schemas.openxmlformats.org/drawingml/2006/main" l="21000" t="25000" r="2000" b="34000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7239000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76F2-6B44-4578-9B11-80FB7B9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Select a source or 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Inspect its supporting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2B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52B34"/>
                </a:solidFill>
                <a:latin typeface="Calibri"/>
                <a:ea typeface="Calibri"/>
                <a:cs typeface="Calibri"/>
              </a:rPr>
              <a:t>Separate observed facts from inference</a:t>
            </a:r>
          </a:p>
        </p:txBody>
      </p:sp>
    </p:spTree>
    <p:extLst>
      <p:ext uri="{BB962C8B-B14F-4D97-AF65-F5344CB8AC3E}">
        <p14:creationId xmlns:p14="http://schemas.microsoft.com/office/powerpoint/2010/main" val="47213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2026-10-27T19:11:21.2970000Z</dcterms:created>
  <dcterms:modified xsi:type="dcterms:W3CDTF">2026-10-27T19:11:21.2980000Z</dcterms:modified>
</coreProperties>
</file>