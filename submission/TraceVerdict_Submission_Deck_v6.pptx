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48c12bcce449e" /><Relationship Type="http://schemas.openxmlformats.org/officeDocument/2006/relationships/extended-properties" Target="/docProps/app.xml" Id="R1104a90580014b4e" /><Relationship Type="http://schemas.openxmlformats.org/officeDocument/2006/relationships/officeDocument" Target="/ppt/presentation.xml" Id="R660033faf33d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8857c3218149cb"/>
  </p:sldMasterIdLst>
  <p:notesMasterIdLst>
    <p:notesMasterId xmlns:r="http://schemas.openxmlformats.org/officeDocument/2006/relationships" r:id="Re7e157b514a3487f"/>
  </p:notesMasterIdLst>
  <p:sldIdLst>
    <p:sldId xmlns:r="http://schemas.openxmlformats.org/officeDocument/2006/relationships" id="256" r:id="R2aba4666a74b457c"/>
    <p:sldId xmlns:r="http://schemas.openxmlformats.org/officeDocument/2006/relationships" id="257" r:id="R698b5e02adfd42c7"/>
    <p:sldId xmlns:r="http://schemas.openxmlformats.org/officeDocument/2006/relationships" id="258" r:id="R8b6fcc0832dc4115"/>
    <p:sldId xmlns:r="http://schemas.openxmlformats.org/officeDocument/2006/relationships" id="259" r:id="Rfb7508cbc3e74b27"/>
    <p:sldId xmlns:r="http://schemas.openxmlformats.org/officeDocument/2006/relationships" id="260" r:id="R23b1f27d7ff24a8c"/>
    <p:sldId xmlns:r="http://schemas.openxmlformats.org/officeDocument/2006/relationships" id="261" r:id="R8ff882eb391c46ce"/>
    <p:sldId xmlns:r="http://schemas.openxmlformats.org/officeDocument/2006/relationships" id="262" r:id="R77b65476f2d3441d"/>
    <p:sldId xmlns:r="http://schemas.openxmlformats.org/officeDocument/2006/relationships" id="263" r:id="R0e3568746df44bef"/>
    <p:sldId xmlns:r="http://schemas.openxmlformats.org/officeDocument/2006/relationships" id="264" r:id="R631c926fa5474dde"/>
    <p:sldId xmlns:r="http://schemas.openxmlformats.org/officeDocument/2006/relationships" id="265" r:id="Re44c551302fb4d90"/>
    <p:sldId xmlns:r="http://schemas.openxmlformats.org/officeDocument/2006/relationships" id="266" r:id="R13397739b96f4361"/>
    <p:sldId xmlns:r="http://schemas.openxmlformats.org/officeDocument/2006/relationships" id="267" r:id="R3b60fc5d16d8452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46df3051c4701" /><Relationship Type="http://schemas.openxmlformats.org/officeDocument/2006/relationships/slideMaster" Target="/ppt/slideMasters/slideMaster1.xml" Id="Rd18857c3218149cb" /><Relationship Type="http://schemas.openxmlformats.org/officeDocument/2006/relationships/notesMaster" Target="/ppt/notesMasters/notesMaster1.xml" Id="Re7e157b514a3487f" /><Relationship Type="http://schemas.openxmlformats.org/officeDocument/2006/relationships/presProps" Target="/ppt/presProps.xml" Id="R5fca80ac5f514835" /><Relationship Type="http://schemas.openxmlformats.org/officeDocument/2006/relationships/tableStyles" Target="/ppt/tableStyles.xml" Id="Re0c84d88c1804299" /><Relationship Type="http://schemas.openxmlformats.org/officeDocument/2006/relationships/slide" Target="/ppt/slides/slide1.xml" Id="R2aba4666a74b457c" /><Relationship Type="http://schemas.openxmlformats.org/officeDocument/2006/relationships/slide" Target="/ppt/slides/slide2.xml" Id="R698b5e02adfd42c7" /><Relationship Type="http://schemas.openxmlformats.org/officeDocument/2006/relationships/slide" Target="/ppt/slides/slide3.xml" Id="R8b6fcc0832dc4115" /><Relationship Type="http://schemas.openxmlformats.org/officeDocument/2006/relationships/slide" Target="/ppt/slides/slide4.xml" Id="Rfb7508cbc3e74b27" /><Relationship Type="http://schemas.openxmlformats.org/officeDocument/2006/relationships/slide" Target="/ppt/slides/slide5.xml" Id="R23b1f27d7ff24a8c" /><Relationship Type="http://schemas.openxmlformats.org/officeDocument/2006/relationships/slide" Target="/ppt/slides/slide6.xml" Id="R8ff882eb391c46ce" /><Relationship Type="http://schemas.openxmlformats.org/officeDocument/2006/relationships/slide" Target="/ppt/slides/slide7.xml" Id="R77b65476f2d3441d" /><Relationship Type="http://schemas.openxmlformats.org/officeDocument/2006/relationships/slide" Target="/ppt/slides/slide8.xml" Id="R0e3568746df44bef" /><Relationship Type="http://schemas.openxmlformats.org/officeDocument/2006/relationships/slide" Target="/ppt/slides/slide9.xml" Id="R631c926fa5474dde" /><Relationship Type="http://schemas.openxmlformats.org/officeDocument/2006/relationships/slide" Target="/ppt/slides/slide10.xml" Id="Re44c551302fb4d90" /><Relationship Type="http://schemas.openxmlformats.org/officeDocument/2006/relationships/slide" Target="/ppt/slides/slide11.xml" Id="R13397739b96f4361" /><Relationship Type="http://schemas.openxmlformats.org/officeDocument/2006/relationships/slide" Target="/ppt/slides/slide12.xml" Id="R3b60fc5d16d8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f470a6756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7b9986dee143f1" /><Relationship Type="http://schemas.openxmlformats.org/officeDocument/2006/relationships/notesMaster" Target="/ppt/notesMasters/notesMaster1.xml" Id="R8ae8455577624e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8a684a8384da7" /><Relationship Type="http://schemas.openxmlformats.org/officeDocument/2006/relationships/notesMaster" Target="/ppt/notesMasters/notesMaster1.xml" Id="Rd2ef42faba37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35bdd3a504917" /><Relationship Type="http://schemas.openxmlformats.org/officeDocument/2006/relationships/notesMaster" Target="/ppt/notesMasters/notesMaster1.xml" Id="R543abf0a07da42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504793950e4fb2" /><Relationship Type="http://schemas.openxmlformats.org/officeDocument/2006/relationships/notesMaster" Target="/ppt/notesMasters/notesMaster1.xml" Id="Ra91e738a74f046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06f1c4d2e44450" /><Relationship Type="http://schemas.openxmlformats.org/officeDocument/2006/relationships/notesMaster" Target="/ppt/notesMasters/notesMaster1.xml" Id="Re1cd7e10fc1048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d5324ee814aa9" /><Relationship Type="http://schemas.openxmlformats.org/officeDocument/2006/relationships/notesMaster" Target="/ppt/notesMasters/notesMaster1.xml" Id="R2f9cd71eafca4a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9efe4aa0642b5" /><Relationship Type="http://schemas.openxmlformats.org/officeDocument/2006/relationships/notesMaster" Target="/ppt/notesMasters/notesMaster1.xml" Id="Re03dc63adc5546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6ed2485d44b42" /><Relationship Type="http://schemas.openxmlformats.org/officeDocument/2006/relationships/notesMaster" Target="/ppt/notesMasters/notesMaster1.xml" Id="R0e6ba6a116b640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25ef0015fb4b2b" /><Relationship Type="http://schemas.openxmlformats.org/officeDocument/2006/relationships/notesMaster" Target="/ppt/notesMasters/notesMaster1.xml" Id="R166d4eec90e94c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a0e03c2e364af6" /><Relationship Type="http://schemas.openxmlformats.org/officeDocument/2006/relationships/notesMaster" Target="/ppt/notesMasters/notesMaster1.xml" Id="R39b3afbd80ca44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9b8e4545034549" /><Relationship Type="http://schemas.openxmlformats.org/officeDocument/2006/relationships/notesMaster" Target="/ppt/notesMasters/notesMaster1.xml" Id="R1fa78f9292d844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b058db3e6f4023" /><Relationship Type="http://schemas.openxmlformats.org/officeDocument/2006/relationships/notesMaster" Target="/ppt/notesMasters/notesMaster1.xml" Id="R777806bf870d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https://github.com/sankalp2515/TraceVerdict; docs/NVIDIA_NEMOTRON_EVIDENCE.md; examples/traceverdict/live/docker-restart/{case,report,summary}.json. Synthetic incidents, real sponsor calls and local-only replay. Visual layout adapted from the supplied IntentSeal HTML reference; editable native text/panels/tables/architecture. Arial is the reference CSS fallback. Track 2 eligibility confirmed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124f7c44e48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b83180fcf48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91112e47b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09faebd754e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28ef570d541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1b9cdf330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F3ABFE-43FC-4C8E-B250-02A865040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F2BF23-5E5D-4594-8636-7CC8C5B4D8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E60A69-538E-49C0-9787-C496FAD4F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87281D-E099-4CFF-A48D-4C24E4C3C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C68166-2782-4E54-9F7D-4ECE5F04A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C5224C-38B2-4078-83FF-67D55A047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95BA41-1FDA-45EC-A669-5A1A268B5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956C91-79A4-4BFA-BC02-E6020C7A1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63CDE2-A02B-4B8B-95AC-FC2BBECED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F60F4E-991C-4E48-9ED2-D13B3B80C3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425d407d524f86" /><Relationship Type="http://schemas.openxmlformats.org/officeDocument/2006/relationships/slideLayout" Target="/ppt/slideLayouts/slideLayout1.xml" Id="R3e6a478a97c94a23" /><Relationship Type="http://schemas.openxmlformats.org/officeDocument/2006/relationships/slideLayout" Target="/ppt/slideLayouts/slideLayout2.xml" Id="Rd76e610215104749" /><Relationship Type="http://schemas.openxmlformats.org/officeDocument/2006/relationships/slideLayout" Target="/ppt/slideLayouts/slideLayout3.xml" Id="R34cab3ac54294f23" /><Relationship Type="http://schemas.openxmlformats.org/officeDocument/2006/relationships/slideLayout" Target="/ppt/slideLayouts/slideLayout4.xml" Id="R2fac32108b7c4039" /><Relationship Type="http://schemas.openxmlformats.org/officeDocument/2006/relationships/slideLayout" Target="/ppt/slideLayouts/slideLayout5.xml" Id="R1861cc35b9ea4016" /><Relationship Type="http://schemas.openxmlformats.org/officeDocument/2006/relationships/slideLayout" Target="/ppt/slideLayouts/slideLayout6.xml" Id="Rcecd754571a7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6a478a97c94a23"/>
    <p:sldLayoutId xmlns:r="http://schemas.openxmlformats.org/officeDocument/2006/relationships" id="2147483650" r:id="Rd76e610215104749"/>
    <p:sldLayoutId xmlns:r="http://schemas.openxmlformats.org/officeDocument/2006/relationships" id="2147483651" r:id="R34cab3ac54294f23"/>
    <p:sldLayoutId xmlns:r="http://schemas.openxmlformats.org/officeDocument/2006/relationships" id="2147483652" r:id="R2fac32108b7c4039"/>
    <p:sldLayoutId xmlns:r="http://schemas.openxmlformats.org/officeDocument/2006/relationships" id="2147483653" r:id="R1861cc35b9ea4016"/>
    <p:sldLayoutId xmlns:r="http://schemas.openxmlformats.org/officeDocument/2006/relationships" id="2147483654" r:id="Rcecd754571a7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f4ffc27d246ba" /><Relationship Type="http://schemas.openxmlformats.org/officeDocument/2006/relationships/image" Target="/ppt/media/image.jpeg" Id="Rced288fc24d94ac4" /><Relationship Type="http://schemas.openxmlformats.org/officeDocument/2006/relationships/notesSlide" Target="/ppt/notesSlides/notesSlide1.xml" Id="R3cc53feafa3e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071514d9c4992" /><Relationship Type="http://schemas.openxmlformats.org/officeDocument/2006/relationships/notesSlide" Target="/ppt/notesSlides/notesSlide2.xml" Id="Rfdeabb7757b14b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688012a64417f" /><Relationship Type="http://schemas.openxmlformats.org/officeDocument/2006/relationships/notesSlide" Target="/ppt/notesSlides/notesSlide3.xml" Id="R01a31d4cc2f04b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1397bac414a04" /><Relationship Type="http://schemas.openxmlformats.org/officeDocument/2006/relationships/notesSlide" Target="/ppt/notesSlides/notesSlide4.xml" Id="Rf46351e2857d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9fa3406204b4a" /><Relationship Type="http://schemas.openxmlformats.org/officeDocument/2006/relationships/notesSlide" Target="/ppt/notesSlides/notesSlide5.xml" Id="R9984b2df1095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0525558f84588" /><Relationship Type="http://schemas.openxmlformats.org/officeDocument/2006/relationships/image" Target="/ppt/media/image.png" Id="Rf576a50f76814c2a" /><Relationship Type="http://schemas.openxmlformats.org/officeDocument/2006/relationships/notesSlide" Target="/ppt/notesSlides/notesSlide6.xml" Id="Rda68a4396833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7aba36a624537" /><Relationship Type="http://schemas.openxmlformats.org/officeDocument/2006/relationships/notesSlide" Target="/ppt/notesSlides/notesSlide7.xml" Id="R52c908fe2f8d4c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db7ad11164ea8" /><Relationship Type="http://schemas.openxmlformats.org/officeDocument/2006/relationships/notesSlide" Target="/ppt/notesSlides/notesSlide8.xml" Id="R465007d84a5c4c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4082c2f844c34" /><Relationship Type="http://schemas.openxmlformats.org/officeDocument/2006/relationships/notesSlide" Target="/ppt/notesSlides/notesSlide9.xml" Id="Rb18e77c068cf49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de47d17c24375" /><Relationship Type="http://schemas.openxmlformats.org/officeDocument/2006/relationships/notesSlide" Target="/ppt/notesSlides/notesSlide10.xml" Id="R51624d491c9241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1c674d5ed4332" /><Relationship Type="http://schemas.openxmlformats.org/officeDocument/2006/relationships/notesSlide" Target="/ppt/notesSlides/notesSlide11.xml" Id="R09738ae0f87e4b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103c63b594350" /><Relationship Type="http://schemas.openxmlformats.org/officeDocument/2006/relationships/notesSlide" Target="/ppt/notesSlides/notesSlide12.xml" Id="R77b951b33ada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DEF1C-C98B-4426-9275-6678ACEA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TRACEVERDICT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C866-A828-4566-9F4C-B52A7292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0D8C0-B1D2-45EB-A10F-6662A8D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73650-9E95-46F7-AC0F-02B146CA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995D9-6CA5-456C-B79B-15AD14BC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Explain what happened.</a:t>
            </a:r>
          </a:p>
          <a:p xmlns:a="http://schemas.openxmlformats.org/drawingml/2006/main">
            <a:pPr>
              <a:defRPr sz="58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Test what should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4DEFA-22DE-417F-BA23-E255FE41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923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An investigation agent that connects source evidence, challenges unsupported claims and tests policy repairs without breaking legitimate work.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32C03-17E5-40E4-9F90-836C1DFB3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288fc24d94ac4"/>
          <a:stretch xmlns:a="http://schemas.openxmlformats.org/drawingml/2006/main"/>
        </p:blipFill>
        <p:spPr>
          <a:xfrm xmlns:a="http://schemas.openxmlformats.org/drawingml/2006/main">
            <a:off x="11334750" y="3015139"/>
            <a:ext cx="6000750" cy="378047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E5D65-D81C-4F59-98CF-C0550649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524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Sankalp Wanjari · Helios</a:t>
            </a:r>
          </a:p>
          <a:p xmlns:a="http://schemas.openxmlformats.org/drawingml/2006/main">
            <a:pPr>
              <a:defRPr sz="21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Zetaris · Meterless · NVIDIA Nemotron</a:t>
            </a:r>
          </a:p>
        </p:txBody>
      </p:sp>
    </p:spTree>
    <p:extLst>
      <p:ext uri="{BB962C8B-B14F-4D97-AF65-F5344CB8AC3E}">
        <p14:creationId xmlns:p14="http://schemas.microsoft.com/office/powerpoint/2010/main" val="1154795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0CB36-0DCE-4E33-AA18-D266962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02 · 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9250A-74A8-49B7-AFA1-97D65D7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An agent acted outside the user’s instruction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851F4-E7EB-4082-BE3E-A67120E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4466-60D2-45BE-88D9-5421910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1DA15-FCC1-4B0C-B07C-C8F8013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6191250" cy="5715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11430">
            <a:solidFill>
              <a:srgbClr val="13213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D4DC9-74CE-48E0-868A-5697F344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8E3F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E3F2"/>
                </a:solidFill>
                <a:latin typeface="Arial"/>
                <a:ea typeface="Arial"/>
                <a:cs typeface="Arial"/>
              </a:rPr>
              <a:t>ONE DOCUMENT. ONE UNAUTHORIZED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8FE8B-5BFC-4D80-B4FE-971B417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53000"/>
            <a:ext cx="5476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“Summarize this report.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contact anyone.”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14161-1B72-4540-B449-FA57F80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42950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8E3F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8E3F2"/>
                </a:solidFill>
                <a:latin typeface="Arial"/>
                <a:ea typeface="Arial"/>
                <a:cs typeface="Arial"/>
              </a:rPr>
              <a:t>The document requests an external send. An application receipt records what ran.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DEB39-A730-4C9C-A56B-76E3C41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4810125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2D034-A56B-4FB6-AFD4-7CE5821C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381375"/>
            <a:ext cx="4371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01 · FRAGMENTED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876B5-642C-484B-A23B-073827D0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57625"/>
            <a:ext cx="4371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The evidence is scattered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169F0-2782-49D0-92B1-74D290D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10125"/>
            <a:ext cx="4371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Task, document, historical policy and receipt sit in different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A65C8-66C2-43BB-84E6-87973880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190875"/>
            <a:ext cx="4810125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4CF1B-E485-4640-89D5-23A4ACE5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381375"/>
            <a:ext cx="4371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02 · UNSUPPORTED EXPLANATIONS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B4A06-519C-44DD-944F-F84A6D80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857625"/>
            <a:ext cx="4371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 plausible story is not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B2025-4092-43DB-A037-CE69396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371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Reviewers need source citations and visible uncertainty.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EBF4B-80DE-4AE7-82F2-6694463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43625"/>
            <a:ext cx="4810125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A3CB-46E9-481A-B939-09BAFD0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334125"/>
            <a:ext cx="4371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03 · DISRUPTIVE REPAIRS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416B8-9A42-41BC-B9B5-2CCA42D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810375"/>
            <a:ext cx="4371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Blocking more can break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00CF8-7B36-4B93-893E-EDA871D4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7762875"/>
            <a:ext cx="4371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An authorized communication task can fail under a broad restriction.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B94C3-4C3B-47C2-870F-6289D05E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143625"/>
            <a:ext cx="4810125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E92FA-7D01-446F-A9A4-018EAC99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334125"/>
            <a:ext cx="4371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04 · REVIEW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58931-A113-465F-936B-8967FB5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810375"/>
            <a:ext cx="43719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Approval needs exact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59B8F-D032-43DE-BD84-75E3C09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762875"/>
            <a:ext cx="4371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The reviewed policy, patch and test report must stay bound together.</a:t>
            </a:r>
          </a:p>
        </p:txBody>
      </p:sp>
    </p:spTree>
    <p:extLst>
      <p:ext uri="{BB962C8B-B14F-4D97-AF65-F5344CB8AC3E}">
        <p14:creationId xmlns:p14="http://schemas.microsoft.com/office/powerpoint/2010/main" val="989178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BAB8B-485D-4433-BA15-D661382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03 ·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9F698-719E-44F0-9340-3779A01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 repair must preserve what the user authorized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3AC79-12F6-44B4-8BC2-014A1F0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8B12A-695F-48CD-89C8-1537FCDE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403D2-4FC0-44E7-B24D-C2760B5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286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58556-7C80-4652-A5EA-DDDA6055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THE USER 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621C4-E59B-4AF2-B998-3538710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Summarize the supplier report. Do not contact anyone.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A872D-5FC3-4CFB-8F50-4F74186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5286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4E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63828-FC8B-4818-BCC2-2F98EB62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381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THE DOCUMENT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5F5D7-905A-4AA6-9219-9805B6D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0005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Send the record to an unapproved recipient.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CDEC2-A32D-4008-9519-1701E4C8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43250"/>
            <a:ext cx="528637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8C297-1D8F-4BAF-ACB2-1086A3E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381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TRACEVERDICT INVESTIGATES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33D76-7F9A-4887-93C0-AAD37533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00050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Connect the records, critique the finding and test the proposed repair.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1D2E7-24C5-4C4B-BD03-6BF3BF1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3905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7FB96-9567-4F56-95B1-F93792A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38875"/>
            <a:ext cx="3448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01 · COLLECT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0F0C2-AB24-42C1-A2D4-D0242584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58000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Read governed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CB510-BA8D-4A49-8CBF-E187129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953375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Zetaris unifies three scoped sources.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231C0-0F88-481C-B757-BDA80D43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00750"/>
            <a:ext cx="3905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7D07C-0FC1-40D6-A83A-DA3C14A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238875"/>
            <a:ext cx="3448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02 · 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82E70-EFE8-4D7E-8EC4-1186099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858000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Challenge every 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CAEEE-5A9C-4674-8C17-FDEB2EA2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953375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Nemotron investigator and critic cite source IDs.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C4618-8465-49B1-95B7-16BCB957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00750"/>
            <a:ext cx="3905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8841A-76BF-4943-A6AF-C90AC079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38875"/>
            <a:ext cx="3448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03 ·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A0158-EDA9-45B0-B825-FE518C7C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858000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Measure safety and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2C6AA-96D0-4977-875B-646DBAE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953375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Reject changes that break legitimate tasks.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0BC46-65B7-4AFA-9BCA-5E31AC38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000750"/>
            <a:ext cx="3905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18CB6-9E0F-4C3E-8BCC-B8B99D90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6238875"/>
            <a:ext cx="3448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04 ·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AB209-C077-4AAF-B947-34FCB122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6858000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Export the exact recommendation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B69B3-39D2-406A-B5D3-B0A252E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53375"/>
            <a:ext cx="3448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Human review. Recommendation export.</a:t>
            </a:r>
          </a:p>
        </p:txBody>
      </p:sp>
    </p:spTree>
    <p:extLst>
      <p:ext uri="{BB962C8B-B14F-4D97-AF65-F5344CB8AC3E}">
        <p14:creationId xmlns:p14="http://schemas.microsoft.com/office/powerpoint/2010/main" val="1102456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C3DEB-ABEB-41AE-BEA4-0EDC4B3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04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3896C-6B89-4E9C-A979-07A3CE1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One governed path from records to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F3EAD-15D3-40EC-9E3C-593069F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652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The evidence graph is a core component, linking sources, claims and repair 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07848-CD8F-4485-AE10-F41F1BD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933A4-BED5-4181-AA62-F1A819D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6869B-7D69-4B0E-96A5-D05AE1F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C0E6A-5516-4BA1-BDE0-9CCE007C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Events and receipts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75975-BBCD-4147-B46B-5278AE83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9587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D96C0-2F86-4EFC-9BB3-2999BEE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A3F58-AF0E-4DDA-A1F5-C716E265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Historical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382D3-E212-46D0-95F9-5B82341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9587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0AC74-4C7C-47E2-997D-D4115F4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667125"/>
            <a:ext cx="523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E56D6-A23D-47F4-848A-A6C2BD5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00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Trusted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6AAE5-858B-4833-9BB5-59DE5077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509587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B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667BE-B3F8-4F52-81A6-76539D01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64592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11430">
            <a:solidFill>
              <a:srgbClr val="1F3A5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7B633-08F5-41A7-8D51-D0DA2DC1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48350"/>
            <a:ext cx="1571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ZETARIS NATIVE USL → WORLD MODEL EVIDENCE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31033-D202-4867-AD46-14C38EF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77125"/>
            <a:ext cx="3857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67C3A-2212-4046-BF27-4B74FCF2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6962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Nemotron</a:t>
            </a:r>
          </a:p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investigator + critic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794D1-004A-4CFF-ACF9-8E5035B2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77628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C54CC-15EE-499C-8087-17B3A2E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477125"/>
            <a:ext cx="3857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64C38-B18E-4167-A8AE-258AFC62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6962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Typed repair</a:t>
            </a:r>
          </a:p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AE9AE-DE1D-462C-AB1D-1B18439D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7628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1367A-6830-4587-B1F0-8A79CCF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477125"/>
            <a:ext cx="3857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2A13B-0FD5-41FC-84AA-2BAEF5A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6962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Safety + utility</a:t>
            </a:r>
          </a:p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local replay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E8561-9B80-4560-B162-081EE68E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77628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4F861-3A81-484A-94A6-0A20AE87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477125"/>
            <a:ext cx="3857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904F6-C274-4AB6-93C4-6CE2DAA0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76962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pPr>
              <a:defRPr sz="24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and 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018C3-BB2E-4F0A-844E-D8BA580D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039225"/>
            <a:ext cx="1628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Read-only evidence access. Bounded proposals. Deterministic promotion gates. No automatic deployment.</a:t>
            </a:r>
          </a:p>
        </p:txBody>
      </p:sp>
    </p:spTree>
    <p:extLst>
      <p:ext uri="{BB962C8B-B14F-4D97-AF65-F5344CB8AC3E}">
        <p14:creationId xmlns:p14="http://schemas.microsoft.com/office/powerpoint/2010/main" val="69691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45FCE-23FE-495E-B8F4-1F6196D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05 · AI MODELS AND TECHNOLOGIES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0C2F6-0C24-47D8-BBE1-EF1B35CD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Each Nemotron model has one measured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64FD6-68D3-4A06-9BEE-871F574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AFE01-AD2D-42CD-BD53-2C6C7BCD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7B3A5-2429-4431-B1D2-1CE31897F92E}"/>
              </a:ext>
            </a:extLst>
          </p:cNvPr>
          <p:cNvGraphicFramePr/>
          <p:nvPr/>
        </p:nvGraphicFramePr>
        <p:xfrm>
          <a:off xmlns:a="http://schemas.openxmlformats.org/drawingml/2006/main" x="857250" y="3143250"/>
          <a:ext xmlns:a="http://schemas.openxmlformats.org/drawingml/2006/main" cx="164592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5572125"/>
                <a:gridCol w="6696075"/>
              </a:tblGrid>
              <a:tr h="9715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task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responsibility</a:t>
                      </a:r>
                    </a:p>
                  </a:txBody>
                  <a:tcPr marL="91440" marR="91440" marT="45720" marB="45720">
                    <a:solidFill>
                      <a:srgbClr val="1F3A5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Collect evidence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Zetaris native USL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Three independent source databases; scope joins and quality rule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Build graph context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Meterless World Model Engine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Stable entities, provenance events and temporal relations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Investigate, critique, plan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Nemotron Lightning through Nightshift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Source-grounded claims, revision and typed policy proposals</a:t>
                      </a:r>
                    </a:p>
                  </a:txBody>
                  <a:tcPr marL="91440" marR="91440" marT="45720" marB="45720">
                    <a:solidFill>
                      <a:srgbClr val="FDFDF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Select replay actions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Nemotron Ultra through Nightshift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3213C"/>
                          </a:solidFill>
                          <a:latin typeface="Arial"/>
                          <a:ea typeface="Arial"/>
                          <a:cs typeface="Arial"/>
                        </a:rPr>
                        <a:t>Test both unsafe and legitimate scenarios in local executors</a:t>
                      </a:r>
                    </a:p>
                  </a:txBody>
                  <a:tcPr marL="91440" marR="91440" marT="45720" marB="4572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FAD83-AF30-4B24-A087-ABBD437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429625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Primary AI provider: Nightshift. NVIDIA credentials remain inside the runtime. Actual response IDs, returned model IDs and usage are retained.</a:t>
            </a:r>
          </a:p>
        </p:txBody>
      </p:sp>
    </p:spTree>
    <p:extLst>
      <p:ext uri="{BB962C8B-B14F-4D97-AF65-F5344CB8AC3E}">
        <p14:creationId xmlns:p14="http://schemas.microsoft.com/office/powerpoint/2010/main" val="920936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0C4FB-E575-4F0C-BE18-44E18C8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06 · PRODUCT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5C013-3BBA-4333-87BA-D7D2B18E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Inspect the evidence, then challenge the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687C6-F397-4C31-B175-A958850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7AC41-0B7D-4C9A-82F5-E7A1D69C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6F00B-C298-4508-98D6-6D15DE7E0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6a50f76814c2a"/>
          <a:srcRect xmlns:a="http://schemas.openxmlformats.org/drawingml/2006/main" l="21000" t="25000" r="2000" b="34000"/>
          <a:stretch xmlns:a="http://schemas.openxmlformats.org/drawingml/2006/main"/>
        </p:blipFill>
        <p:spPr>
          <a:xfrm xmlns:a="http://schemas.openxmlformats.org/drawingml/2006/main">
            <a:off x="857250" y="3048000"/>
            <a:ext cx="11525250" cy="5810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11502-C090-429F-B224-328F0EF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86125"/>
            <a:ext cx="4381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 · Select a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2 · Inspect its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3 · Read the 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4 · Compare repairs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A37AC-BBC8-414E-BE63-1A7031A7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020175"/>
            <a:ext cx="1628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Actual product screenshot of a recorded synthetic case. No account or keys required for the guided sample.</a:t>
            </a:r>
          </a:p>
        </p:txBody>
      </p:sp>
    </p:spTree>
    <p:extLst>
      <p:ext uri="{BB962C8B-B14F-4D97-AF65-F5344CB8AC3E}">
        <p14:creationId xmlns:p14="http://schemas.microsoft.com/office/powerpoint/2010/main" val="105589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71530-4F09-4CD0-8F7A-D04E7896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07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C4EBB-2898-4246-A1BE-FD013248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A passing repair preserves legitimate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719FF-DFF6-412D-8C79-E496EF6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652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Fresh Docker run after reboot, with actual sponsor calls and local execution receipts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96C4-B03B-4633-906B-A43C4249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18416-C7F9-4D0E-BE40-6D4CD853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D80CD-CAC0-42B8-97DF-1FEF48C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523875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8FB8A-48DC-4073-AF2A-35114C9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6E9"/>
                </a:solidFill>
                <a:latin typeface="Arial"/>
                <a:ea typeface="Arial"/>
                <a:cs typeface="Arial"/>
              </a:rPr>
              <a:t>TARGETED MODEL 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FC3C-AF04-4EEE-9F4D-44CFC59C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/ 20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9A7BD-C839-49EA-9F79-22E36C9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48375"/>
            <a:ext cx="47053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3E9F2"/>
                </a:solidFill>
                <a:latin typeface="Arial"/>
                <a:ea typeface="Arial"/>
                <a:cs typeface="Arial"/>
              </a:rPr>
              <a:t>8 / 8 legitimate model tasks passed. Eligible for human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5910A-F5FC-45F6-9169-10D4D29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523875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4E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F4B40-4148-419B-936E-E5A6C141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862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RESTRICTIVE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3ED2D-9080-46CA-8470-FCEE258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18 / 20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5A7C7-ACBA-4B02-A715-216D450F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048375"/>
            <a:ext cx="47053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6 / 8 legitimate model tasks passed. Two authorized tasks broke. Rejected.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E0715-1B00-4161-AE8D-C665773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857625"/>
            <a:ext cx="523875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33245-5E69-461F-AE1C-2090AAB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862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MEASURED ROUTE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EB2AE-9943-47CD-A5F9-F0926AA7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482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48 trials retained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8B366-4C3C-4F1F-890B-47AF5D7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48375"/>
            <a:ext cx="47053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Ultra: 18/18 utility, p50 2,150 ms. Lightning: 15/18 utility, p50 678 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ACD5D-D280-4C27-84D4-F5EBDC3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810625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Fixed-action replay tests policy enforcement separately from model resistance. Small synthetic evaluations; all outcomes retained.</a:t>
            </a:r>
          </a:p>
        </p:txBody>
      </p:sp>
    </p:spTree>
    <p:extLst>
      <p:ext uri="{BB962C8B-B14F-4D97-AF65-F5344CB8AC3E}">
        <p14:creationId xmlns:p14="http://schemas.microsoft.com/office/powerpoint/2010/main" val="647149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0B9C5-90C3-437F-985E-582F27B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08 · BUSINESS MODEL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31B6B-BDF6-4961-9E81-136C8186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Who uses it, why they try it, how it could grow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074E1-17F8-4A0D-9461-A3B32877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977B6-B24F-4E87-BDFA-18671877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DB64E-5048-4C5B-8D89-30ABBB8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D8F60-3F27-46E5-85F8-8DDC34DB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3442-E189-42EC-9A95-D86BDAB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Fragmented incident evidence; unsupported explanations; disruptive policy repairs.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EA6CD-D4DD-48D6-B2BB-0D06846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A834C-E51A-4C60-96A0-F377651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718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6663E-B569-4600-B98A-739F9C0C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3380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Source-linked investigation, critic revision and bounded repair replay.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FC4D6-99D1-44ED-A08F-D0ED70A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00037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8D881-D05F-4A2C-AB15-7FF2851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17182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Unique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4C2C4-7ACE-42A3-9240-3E1709F2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73380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Understand the incident and test whether a repair preserves useful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4D3E2-7B5D-4A63-A5CF-F5089598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174EA-970F-4533-9F89-B4FA2292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Users and buyers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C0C92-7174-4EA1-92F4-D6EB1861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AI platform engineers and security reviewers operating tool-using agents.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66762-4B2F-40A9-95A9-E5E4B37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D29F0-9F53-4375-97E1-A690AE4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D741F-1A7E-42D1-9AA8-8FEBA4E6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81675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Open source, integration examples and design-partner pilots.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109C4-079C-4BE7-8472-EF87F10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48250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A46EF-6C81-4F93-A408-E218068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19700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Defensible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D0570-7A00-4B53-9350-2108269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781675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Accumulated provenance, repair outcomes and reproducible evaluation methods.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1E6FF-E09E-4301-90C3-816391B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D948A-9768-4DEE-9B9E-2FA719E9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6757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Costs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A5AB8-CD70-4C1E-8D77-5A67FD1C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2955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Engineering, governed data access, model inference and operations.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5DBFF-6C5B-44E4-9470-A01D606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9612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A3043-E5FE-4999-A395-2A6E174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26757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Revenue hypothesis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5608A-5A4F-403C-BBB2-D849E14F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82955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Managed investigations and enterprise identity/audit workflows.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C31DD-7B89-4E65-9FAE-ED02E4A9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096125"/>
            <a:ext cx="5238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04A9E-E613-449E-BA50-DB787027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267575"/>
            <a:ext cx="481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Pilot metrics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588C7-35E4-4553-8901-7403B61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829550"/>
            <a:ext cx="481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Review time, repair acceptance, utility preservation and repeat usage.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AD05D-C3B5-459D-A6CB-94A35FB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239250"/>
            <a:ext cx="1619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Pricing and demand are hypotheses. No paid traction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6618744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08BD7-451E-49EC-A631-96354314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09 · BUSINESS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CA383-E9C8-416E-8690-CACAD2A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Less review friction. More inspectable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8CD94-815C-4879-8BDD-E29B1065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ADF79-204C-48E6-98F4-CECDE5C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B2A80-9124-4E4E-9B13-3AA188A6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2A944-427D-43C6-B7DE-AAFCCAB2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REVIEWER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87111-ED16-425E-A09F-0DA095D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No account to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C1336-CDEB-40E4-8FB4-81F050F3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A five-step recorded journey targets 3½ minutes and ends with an exported report. No live inference is implied.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EDBA6-52CC-4547-B673-528ACE1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C97DA-E353-457E-8413-815DFC5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REPAIR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60A91-7DFE-4E05-8B82-BB8EA2CA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8 / 8 utility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D31A3-F7F9-4651-B91D-9328A4B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76875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The targeted repair preserves authorized work in the retained live run. A broad restriction preserves 6/8.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B74DF-922E-4A21-8D7B-9AC7601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86125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2ED30-E0F7-446E-9A8C-112DEB8D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1472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EXPLANATION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4EBA3-080C-4321-A2A2-B517B7AE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67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Every claim has a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9A36C-FAEF-44DA-9A84-FB63312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76875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Review evidence IDs, original records and critic feedback. Sequence alone does not establish causation.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8C0C5-6CB3-400F-A5B5-E8927512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810625"/>
            <a:ext cx="1609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Suggested walkthrough pace is not a measured usability result. Customer review-time savings remain to be validated in pilots.</a:t>
            </a:r>
          </a:p>
        </p:txBody>
      </p:sp>
    </p:spTree>
    <p:extLst>
      <p:ext uri="{BB962C8B-B14F-4D97-AF65-F5344CB8AC3E}">
        <p14:creationId xmlns:p14="http://schemas.microsoft.com/office/powerpoint/2010/main" val="528663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EE39-FFB3-4B31-9EC8-6B87B617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10 · PRODUCTION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BEDB4-4DF1-4157-9FBF-A0985597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Rules decide. Models advise. People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5A6DE-25B1-4AE9-9D67-863592D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DEC4-3850-4315-952B-36566F8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706F6-EDF5-4574-96AD-2B644CB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8001000" cy="5143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B5BC1-C424-492C-8679-F106198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EF086-3D49-4787-A2A8-EFF82FB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7429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Independent Docker API, web, proxy and source databases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PostgreSQL CAS, durable jobs, leases and bounded admission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Scoped queue metrics, health checks and restart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9CCB7-725F-412C-AB07-99AD32D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8001000" cy="5143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CABDA-49FE-4E02-95D5-9806470C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TRUST AND RESPONSIBLE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35D15-E560-4D7A-8C75-6299EC29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33875"/>
            <a:ext cx="7429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Source-linked findings with visible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HttpOnly sessions, CSRF and tenant/agent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3213C"/>
                </a:solidFill>
                <a:latin typeface="Arial"/>
                <a:ea typeface="Arial"/>
                <a:cs typeface="Arial"/>
              </a:rPr>
              <a:t>Hash-bound approval, explicit sample/live modes and no silent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35517-4AF4-4D1C-BEFA-0CD1E531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743950"/>
            <a:ext cx="1609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Verified baseline: 328 backend tests, 12 frontend tests, 8/8 Engine conformance. New operational checks run separately. Public deployment and broad SaaS readiness are not claimed.</a:t>
            </a:r>
          </a:p>
        </p:txBody>
      </p:sp>
    </p:spTree>
    <p:extLst>
      <p:ext uri="{BB962C8B-B14F-4D97-AF65-F5344CB8AC3E}">
        <p14:creationId xmlns:p14="http://schemas.microsoft.com/office/powerpoint/2010/main" val="294374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3C784-20FB-4495-A62D-686B4292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11 ·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D6F03-684A-45E3-A33F-04C77F8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Close measured gaps before widening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4CA15-B030-42F5-ABF6-AB62F160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E1874-9FBD-42CC-8A60-359C50B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AD6EB-D0FC-4159-8C07-90DB866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13C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72F61-94FB-4130-B20C-3B2CB62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8D6E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D6E9"/>
                </a:solidFill>
                <a:latin typeface="Arial"/>
                <a:ea typeface="Arial"/>
                <a:cs typeface="Arial"/>
              </a:rPr>
              <a:t>SHIPPED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9F5BB-12B1-4B04-BABD-9278A09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Investigation and 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C9D3B-1D48-4133-BA9C-103094A2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9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3E9F2"/>
                </a:solidFill>
                <a:latin typeface="Arial"/>
                <a:ea typeface="Arial"/>
                <a:cs typeface="Arial"/>
              </a:rPr>
              <a:t>Governed evidence, World Model graph, critic revision, policy diffs, local replay, human review/export and no-account samples.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A9C9A-54BD-420C-88C0-DF670377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0C159-30D9-4FD6-B1C9-BF5BC2A7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NEXT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2897C-A8DF-416E-85E2-C83B2CF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29075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Customer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6575-F90C-472B-A907-92B649F8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29250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Self-service workspace identity, SSO, connector onboarding, retention policy, operational alerts and measured capacity SLOs.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4BBAA-9446-44A9-8564-7C3EA554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238500"/>
            <a:ext cx="52387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FDFB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DDBC9-2B5F-49F3-B736-CCD68D1E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467100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BROADER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85D9F-3C5B-4B7E-AB56-9F7A02C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29075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More tools and stronger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3649E-56FD-4479-8581-44FF932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29250"/>
            <a:ext cx="4705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Independent benchmarks, additional isolated replay adapters, provider fault testing and whole-platform disaster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20018-7116-4DAA-AC1B-FA7BBB04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763000"/>
            <a:ext cx="1619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Engineering provenance and component lineage are documented in docs/NEW_WORK.md. The runtime guard predates TraceVerdict’s investigation workflow.</a:t>
            </a:r>
          </a:p>
        </p:txBody>
      </p:sp>
    </p:spTree>
    <p:extLst>
      <p:ext uri="{BB962C8B-B14F-4D97-AF65-F5344CB8AC3E}">
        <p14:creationId xmlns:p14="http://schemas.microsoft.com/office/powerpoint/2010/main" val="715033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9D7DD-263C-43C9-80D0-6E20436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1666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12 · TRY TRACEVERDICT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3E369-ABAE-4854-9C07-4761F6B8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14425"/>
            <a:ext cx="1657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Explain an incident.</a:t>
            </a:r>
          </a:p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Evaluate a repair.</a:t>
            </a:r>
          </a:p>
          <a:p xmlns:a="http://schemas.openxmlformats.org/drawingml/2006/main">
            <a:pPr>
              <a:defRPr sz="450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Keep the human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4538E-962D-46A1-80F7-029B6BC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1562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TraceVerdict · Helios · Track 2 · Open Agent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48B1B-142E-4F48-94EF-954CE92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9639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953C1-D62B-462F-A9D0-88D6CC13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TRY THE GUIDED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C836A-6B98-4FB2-98EF-C44EB18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No account. Five steps. Downloadable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DD63D-9F6F-4780-AE66-A073561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628775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1430">
            <a:solidFill>
              <a:srgbClr val="D5DB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88759-CE4E-4B2E-AF6A-AAD1595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1533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F3A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3A5F"/>
                </a:solidFill>
                <a:latin typeface="Arial"/>
                <a:ea typeface="Arial"/>
                <a:cs typeface="Arial"/>
              </a:rPr>
              <a:t>CODE + LIVE RECEIPTS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A07A2-5053-4E0E-B1A2-510A4B64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13C"/>
                </a:solidFill>
                <a:latin typeface="Arial"/>
                <a:ea typeface="Arial"/>
                <a:cs typeface="Arial"/>
              </a:rPr>
              <a:t>github.com/sankalp2515/TraceVerdict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1709A-0076-463C-A636-99AF681C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10625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Zetaris · Meterless World Model Engine · NVIDIA Nemotron through Nightshift</a:t>
            </a:r>
          </a:p>
        </p:txBody>
      </p:sp>
    </p:spTree>
    <p:extLst>
      <p:ext uri="{BB962C8B-B14F-4D97-AF65-F5344CB8AC3E}">
        <p14:creationId xmlns:p14="http://schemas.microsoft.com/office/powerpoint/2010/main" val="889150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2026-10-27T21:09:49.6500000Z</dcterms:created>
  <dcterms:modified xsi:type="dcterms:W3CDTF">2026-10-27T21:09:49.6500000Z</dcterms:modified>
</coreProperties>
</file>